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  <p:sldMasterId id="2147483792" r:id="rId2"/>
  </p:sldMasterIdLst>
  <p:notesMasterIdLst>
    <p:notesMasterId r:id="rId16"/>
  </p:notesMasterIdLst>
  <p:sldIdLst>
    <p:sldId id="460" r:id="rId3"/>
    <p:sldId id="729" r:id="rId4"/>
    <p:sldId id="730" r:id="rId5"/>
    <p:sldId id="731" r:id="rId6"/>
    <p:sldId id="726" r:id="rId7"/>
    <p:sldId id="727" r:id="rId8"/>
    <p:sldId id="728" r:id="rId9"/>
    <p:sldId id="722" r:id="rId10"/>
    <p:sldId id="723" r:id="rId11"/>
    <p:sldId id="725" r:id="rId12"/>
    <p:sldId id="455" r:id="rId13"/>
    <p:sldId id="720" r:id="rId14"/>
    <p:sldId id="72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1348"/>
    <a:srgbClr val="B7B7B7"/>
    <a:srgbClr val="FFFFFF"/>
    <a:srgbClr val="7030A0"/>
    <a:srgbClr val="FF0000"/>
    <a:srgbClr val="0070C0"/>
    <a:srgbClr val="FFC925"/>
    <a:srgbClr val="AC34AC"/>
    <a:srgbClr val="FFC000"/>
    <a:srgbClr val="A82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368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10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08BA9-A7FD-429A-BD78-9573E7190BBD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91B7C-1AEC-498D-AC22-4BFE029E1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46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6941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 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751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 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751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6941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 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751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 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751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6941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 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751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 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751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6941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 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751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1731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BAC29-4743-4C50-8DFB-6BEB9C389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0B03B-0C5F-45F4-93DA-77942D2FF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150BA-0D29-4DC8-8DA9-42D1ABF82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50E60-0936-45A1-AFD4-9CFB15A9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C8D99-0EF7-47A1-A0B5-C763A8A4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44285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38E4-9C4F-4D08-892F-B56E80B3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04E02-A9BB-47E1-9D2C-70869B613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24B6-2CA9-44C8-8C26-8BB368EB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54A3F-854D-4377-93FA-258AE032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2353B-000F-4BB0-9B35-153A5884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59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CC88-ACF0-4917-A068-CA0DAA651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912D4-14DF-4709-BD64-FF74A4DB8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99BAD-2669-4243-9D4B-103B3D860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F7BF5-84EC-43C1-A9CB-2E615B52B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7D97E-E0ED-472C-8F2F-83C78517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6956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E513E-00FA-4653-AB95-016178AE8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43F27-73A6-4D20-B198-2E6E4DD9C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E5E3A-0402-4C42-8D49-342908235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099C4-2BDB-4329-945C-A14AC39DD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3AD13-A10C-4E94-8507-A8BB694F5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C780C-BED3-497A-BDDB-BA394A52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9608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5E7A7-FFE6-4C22-A484-6793058CD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28EE7-3803-42FA-8AAA-87A0AF29D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7F9FE-DAB5-48E3-92D9-A3F1AB7C3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ECFA12-F567-4215-AD5A-BC85D91D8E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CEBC0-2C59-4846-B45E-9D8CAC3D8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EC2447-467D-46EA-BFDC-857903A9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9EA8D2-758C-42EB-ADB4-D2C9AA1A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FDD65F-4229-4A5B-9FB3-642D3A14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18472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D137-9987-473E-B30F-1356F690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0FA7F-E738-4FB5-B491-83928253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01AE5-31CD-4EF7-92D8-C6598F01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CC06E-45D3-408E-906E-02D818AC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4767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1F5BF-F16B-4433-98BC-460692AF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F2F249-0BC4-4C1C-AC23-F95616CCD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C9541-6EFD-4710-8D76-967F3BDF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42879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A10EC-F6EF-4DC6-B819-FF20F701E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F62E-5399-49D8-8FAC-0040EC179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D7F48-EA20-40BF-B5F5-CD679CC96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A2B43-630F-45AC-B47E-517777A44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19F59-EBDE-4674-B37A-5540C147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8FC61-A7F6-4E66-B915-A14D446C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1319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EF17-E357-4C34-8581-67E2C69C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17FCC-2C4D-48C3-96F1-FA2DB19F8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68B8E-9C72-4931-AACF-678569B53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A13D5-E9BC-490B-9169-58414763E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EF6B2-BA34-4184-AC54-C05A8892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05B6A-AE47-4173-903F-5F832646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56184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8514-5816-4697-AC3A-D42437F39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A9DEF-232C-46A4-AE26-0DDC1FFBE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82BE6-73D4-46CB-A0B0-301B7DB2F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86978-E1AB-41FF-AF1F-5B0DAD14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CF100-06D4-4BDB-93AA-1E1E47F9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11853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4A769-77B0-4667-A06E-F47FF430B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1E8F10-3FD0-432D-BCFB-0FA721DC7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337-33B4-435E-A47B-AB7B27CE9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583D2-5A88-411E-BCB3-DFC5CA2BE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CC006-CB6E-4C7E-97B6-5DF717F3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082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10678" y="6532941"/>
            <a:ext cx="444063" cy="275677"/>
          </a:xfrm>
          <a:prstGeom prst="rect">
            <a:avLst/>
          </a:prstGeom>
        </p:spPr>
        <p:txBody>
          <a:bodyPr anchor="ctr"/>
          <a:lstStyle>
            <a:lvl1pPr algn="ctr">
              <a:defRPr sz="525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35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12192528" cy="6855263"/>
          </a:xfrm>
          <a:prstGeom prst="rect">
            <a:avLst/>
          </a:prstGeom>
          <a:solidFill>
            <a:srgbClr val="DB13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 rot="5400000">
            <a:off x="6812698" y="1018570"/>
            <a:ext cx="6139714" cy="4097218"/>
            <a:chOff x="0" y="6488755"/>
            <a:chExt cx="3604717" cy="369245"/>
          </a:xfrm>
        </p:grpSpPr>
        <p:sp>
          <p:nvSpPr>
            <p:cNvPr id="19" name="Rectangle 18"/>
            <p:cNvSpPr/>
            <p:nvPr userDrawn="1"/>
          </p:nvSpPr>
          <p:spPr>
            <a:xfrm>
              <a:off x="0" y="6488755"/>
              <a:ext cx="3604716" cy="369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Isosceles Triangle 19"/>
            <p:cNvSpPr/>
            <p:nvPr userDrawn="1"/>
          </p:nvSpPr>
          <p:spPr>
            <a:xfrm rot="16200000">
              <a:off x="3263520" y="6515062"/>
              <a:ext cx="367503" cy="314890"/>
            </a:xfrm>
            <a:prstGeom prst="triangle">
              <a:avLst/>
            </a:prstGeom>
            <a:solidFill>
              <a:srgbClr val="DB13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6235" y="2779078"/>
            <a:ext cx="7087711" cy="82296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6235" y="3602038"/>
            <a:ext cx="7087711" cy="82296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Picture 4" descr="Image result for kelloggs logo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68055" y="188793"/>
            <a:ext cx="898988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10672" y="6532931"/>
            <a:ext cx="444062" cy="275677"/>
          </a:xfrm>
          <a:prstGeom prst="rect">
            <a:avLst/>
          </a:prstGeom>
        </p:spPr>
        <p:txBody>
          <a:bodyPr anchor="ctr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8068055" y="817563"/>
            <a:ext cx="3642617" cy="441325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9405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12192528" cy="6855263"/>
          </a:xfrm>
          <a:prstGeom prst="rect">
            <a:avLst/>
          </a:prstGeom>
          <a:solidFill>
            <a:srgbClr val="DB13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6488755"/>
            <a:ext cx="3604716" cy="3692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Isosceles Triangle 19"/>
          <p:cNvSpPr/>
          <p:nvPr userDrawn="1"/>
        </p:nvSpPr>
        <p:spPr>
          <a:xfrm rot="16200000">
            <a:off x="3315472" y="6567014"/>
            <a:ext cx="365760" cy="212728"/>
          </a:xfrm>
          <a:prstGeom prst="triangle">
            <a:avLst/>
          </a:prstGeom>
          <a:solidFill>
            <a:srgbClr val="DB13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6235" y="2779078"/>
            <a:ext cx="9144000" cy="82296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6235" y="3602038"/>
            <a:ext cx="9144000" cy="82296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Picture 4" descr="Image result for kelloggs logo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2655" y="6521707"/>
            <a:ext cx="898988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10672" y="6532931"/>
            <a:ext cx="444062" cy="275677"/>
          </a:xfrm>
          <a:prstGeom prst="rect">
            <a:avLst/>
          </a:prstGeom>
        </p:spPr>
        <p:txBody>
          <a:bodyPr anchor="ctr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7" name="TextBox 36"/>
          <p:cNvSpPr txBox="1"/>
          <p:nvPr userDrawn="1"/>
        </p:nvSpPr>
        <p:spPr>
          <a:xfrm>
            <a:off x="10318343" y="6531038"/>
            <a:ext cx="1476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DEPLOY</a:t>
            </a:r>
            <a:r>
              <a:rPr lang="en-US" sz="1200" baseline="0" dirty="0">
                <a:solidFill>
                  <a:schemeClr val="bg1"/>
                </a:solidFill>
                <a:latin typeface="+mj-lt"/>
              </a:rPr>
              <a:t> FOR GROWTH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9884463" y="6580732"/>
            <a:ext cx="488937" cy="187227"/>
            <a:chOff x="9858336" y="6580732"/>
            <a:chExt cx="488937" cy="187227"/>
          </a:xfrm>
          <a:solidFill>
            <a:schemeClr val="bg1"/>
          </a:solidFill>
        </p:grpSpPr>
        <p:sp>
          <p:nvSpPr>
            <p:cNvPr id="15" name="Isosceles Triangle 14"/>
            <p:cNvSpPr>
              <a:spLocks noChangeAspect="1"/>
            </p:cNvSpPr>
            <p:nvPr userDrawn="1"/>
          </p:nvSpPr>
          <p:spPr>
            <a:xfrm rot="5400000" flipH="1">
              <a:off x="9843721" y="6599694"/>
              <a:ext cx="182880" cy="153649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Isosceles Triangle 15"/>
            <p:cNvSpPr>
              <a:spLocks noChangeAspect="1"/>
            </p:cNvSpPr>
            <p:nvPr userDrawn="1"/>
          </p:nvSpPr>
          <p:spPr>
            <a:xfrm rot="5400000" flipH="1">
              <a:off x="9958188" y="6595347"/>
              <a:ext cx="182880" cy="153649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Isosceles Triangle 16"/>
            <p:cNvSpPr>
              <a:spLocks noChangeAspect="1"/>
            </p:cNvSpPr>
            <p:nvPr userDrawn="1"/>
          </p:nvSpPr>
          <p:spPr>
            <a:xfrm rot="5400000" flipH="1">
              <a:off x="10072953" y="6595347"/>
              <a:ext cx="182880" cy="153649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Isosceles Triangle 17"/>
            <p:cNvSpPr>
              <a:spLocks noChangeAspect="1"/>
            </p:cNvSpPr>
            <p:nvPr userDrawn="1"/>
          </p:nvSpPr>
          <p:spPr>
            <a:xfrm rot="5400000" flipH="1">
              <a:off x="10179009" y="6595347"/>
              <a:ext cx="182880" cy="153649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2117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6235" y="2779078"/>
            <a:ext cx="9144000" cy="82296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6235" y="3602038"/>
            <a:ext cx="9144000" cy="822960"/>
          </a:xfrm>
        </p:spPr>
        <p:txBody>
          <a:bodyPr anchor="t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10672" y="6532931"/>
            <a:ext cx="444062" cy="275677"/>
          </a:xfrm>
          <a:prstGeom prst="rect">
            <a:avLst/>
          </a:prstGeom>
        </p:spPr>
        <p:txBody>
          <a:bodyPr anchor="ctr"/>
          <a:lstStyle>
            <a:lvl1pPr algn="ctr">
              <a:defRPr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689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10672" y="6532931"/>
            <a:ext cx="444062" cy="275677"/>
          </a:xfrm>
          <a:prstGeom prst="rect">
            <a:avLst/>
          </a:prstGeom>
        </p:spPr>
        <p:txBody>
          <a:bodyPr anchor="ctr"/>
          <a:lstStyle>
            <a:lvl1pPr algn="ctr">
              <a:defRPr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126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10672" y="6532931"/>
            <a:ext cx="444062" cy="275677"/>
          </a:xfrm>
          <a:prstGeom prst="rect">
            <a:avLst/>
          </a:prstGeom>
        </p:spPr>
        <p:txBody>
          <a:bodyPr anchor="ctr"/>
          <a:lstStyle>
            <a:lvl1pPr algn="ctr">
              <a:defRPr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4469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726" y="228613"/>
            <a:ext cx="8108076" cy="294795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2" y="950905"/>
            <a:ext cx="11481172" cy="55261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1643256" y="6644197"/>
            <a:ext cx="244257" cy="157015"/>
          </a:xfrm>
        </p:spPr>
        <p:txBody>
          <a:bodyPr/>
          <a:lstStyle>
            <a:lvl1pPr>
              <a:defRPr/>
            </a:lvl1pPr>
          </a:lstStyle>
          <a:p>
            <a:fld id="{71B38029-259F-43B2-8E2D-68DC94350E3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9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522712"/>
            <a:ext cx="12192000" cy="3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2"/>
          <p:cNvSpPr txBox="1">
            <a:spLocks/>
          </p:cNvSpPr>
          <p:nvPr userDrawn="1"/>
        </p:nvSpPr>
        <p:spPr bwMode="auto">
          <a:xfrm>
            <a:off x="11687116" y="6644195"/>
            <a:ext cx="200375" cy="205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r" defTabSz="906578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3863" algn="l" defTabSz="90773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07735" algn="l" defTabSz="90773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1603" algn="l" defTabSz="90773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15471" algn="l" defTabSz="90773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9339" algn="l" defTabSz="90773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3212" algn="l" defTabSz="90773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77080" algn="l" defTabSz="90773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30946" algn="l" defTabSz="90773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D52A3E-C380-48D9-873D-B5F74C068581}" type="slidenum">
              <a:rPr lang="en-US" sz="1333" smtClean="0">
                <a:solidFill>
                  <a:srgbClr val="000000"/>
                </a:solidFill>
                <a:sym typeface="Helvetica"/>
              </a:rPr>
              <a:pPr/>
              <a:t>‹#›</a:t>
            </a:fld>
            <a:endParaRPr lang="en-US" sz="1333" dirty="0">
              <a:solidFill>
                <a:srgbClr val="000000"/>
              </a:solidFill>
              <a:sym typeface="Helvetica"/>
            </a:endParaRPr>
          </a:p>
        </p:txBody>
      </p:sp>
      <p:pic>
        <p:nvPicPr>
          <p:cNvPr id="12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02659" y="109199"/>
            <a:ext cx="1659237" cy="452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4559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937C3-10B6-4B1B-99CF-107EC3EF7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0E188-1DA2-4BD0-B53F-3404E978D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07200-D322-45A3-BAAA-7E666378B0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3E0E5-0596-4229-A5FF-DDA8681F2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C29F7-BDD2-4F80-ABF3-963C12A7F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9542DF-1182-463C-BDFC-CECA8EBD150B}"/>
              </a:ext>
            </a:extLst>
          </p:cNvPr>
          <p:cNvSpPr/>
          <p:nvPr userDrawn="1"/>
        </p:nvSpPr>
        <p:spPr>
          <a:xfrm>
            <a:off x="3" y="6488765"/>
            <a:ext cx="3604716" cy="369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8" name="Picture 4" descr="Image result for kelloggs logo">
            <a:extLst>
              <a:ext uri="{FF2B5EF4-FFF2-40B4-BE49-F238E27FC236}">
                <a16:creationId xmlns:a16="http://schemas.microsoft.com/office/drawing/2014/main" id="{959507CB-2655-4D48-9791-168E80D47C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55" y="6521707"/>
            <a:ext cx="898988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3D3A20F-2302-4523-990A-C34DFC47851B}"/>
              </a:ext>
            </a:extLst>
          </p:cNvPr>
          <p:cNvSpPr/>
          <p:nvPr userDrawn="1"/>
        </p:nvSpPr>
        <p:spPr>
          <a:xfrm rot="16200000">
            <a:off x="3315472" y="6567014"/>
            <a:ext cx="365760" cy="21272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AB7F2D-100C-4B8E-8E8F-FBA47B87D590}"/>
              </a:ext>
            </a:extLst>
          </p:cNvPr>
          <p:cNvGrpSpPr/>
          <p:nvPr userDrawn="1"/>
        </p:nvGrpSpPr>
        <p:grpSpPr>
          <a:xfrm>
            <a:off x="9884470" y="6580742"/>
            <a:ext cx="488937" cy="187227"/>
            <a:chOff x="9858336" y="6580732"/>
            <a:chExt cx="488937" cy="187227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36ADC862-3D39-4A36-B152-B4FC56611F43}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 flipH="1">
              <a:off x="9843721" y="6599694"/>
              <a:ext cx="182880" cy="153649"/>
            </a:xfrm>
            <a:prstGeom prst="triangle">
              <a:avLst/>
            </a:prstGeom>
            <a:solidFill>
              <a:srgbClr val="DB13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E353C27-8BAA-46D6-A19D-A1204696A0BE}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 flipH="1">
              <a:off x="9958188" y="6595347"/>
              <a:ext cx="182880" cy="153649"/>
            </a:xfrm>
            <a:prstGeom prst="triangle">
              <a:avLst/>
            </a:prstGeom>
            <a:solidFill>
              <a:srgbClr val="DB13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05B59E0-E23B-45D4-894F-7AD1F3C78EA7}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 flipH="1">
              <a:off x="10072953" y="6595347"/>
              <a:ext cx="182880" cy="153649"/>
            </a:xfrm>
            <a:prstGeom prst="triangle">
              <a:avLst/>
            </a:prstGeom>
            <a:solidFill>
              <a:srgbClr val="DB13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9F1FB96E-C96A-4A99-981B-809D2840BCEB}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 flipH="1">
              <a:off x="10179009" y="6595347"/>
              <a:ext cx="182880" cy="153649"/>
            </a:xfrm>
            <a:prstGeom prst="triangle">
              <a:avLst/>
            </a:prstGeom>
            <a:solidFill>
              <a:srgbClr val="DB13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33C78E5-AE4D-4D09-B445-5422D042C4D7}"/>
              </a:ext>
            </a:extLst>
          </p:cNvPr>
          <p:cNvSpPr txBox="1"/>
          <p:nvPr userDrawn="1"/>
        </p:nvSpPr>
        <p:spPr>
          <a:xfrm>
            <a:off x="10318343" y="6531038"/>
            <a:ext cx="14763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DB1348"/>
                </a:solidFill>
                <a:latin typeface="+mj-lt"/>
              </a:rPr>
              <a:t>DEPLOY</a:t>
            </a:r>
            <a:r>
              <a:rPr lang="en-US" sz="900" baseline="0" dirty="0">
                <a:solidFill>
                  <a:srgbClr val="DB1348"/>
                </a:solidFill>
                <a:latin typeface="+mj-lt"/>
              </a:rPr>
              <a:t> FOR GROWTH</a:t>
            </a:r>
            <a:endParaRPr lang="en-US" sz="900" dirty="0">
              <a:solidFill>
                <a:srgbClr val="DB134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32520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488755"/>
            <a:ext cx="3604716" cy="369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720" y="365125"/>
            <a:ext cx="105367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720" y="1421150"/>
            <a:ext cx="113385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4" descr="Image result for kelloggs logo"/>
          <p:cNvPicPr>
            <a:picLocks noChangeAspect="1" noChangeArrowheads="1"/>
          </p:cNvPicPr>
          <p:nvPr userDrawn="1"/>
        </p:nvPicPr>
        <p:blipFill>
          <a:blip r:embed="rId8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2655" y="6521707"/>
            <a:ext cx="898988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10672" y="6532931"/>
            <a:ext cx="444062" cy="275677"/>
          </a:xfrm>
          <a:prstGeom prst="rect">
            <a:avLst/>
          </a:prstGeom>
        </p:spPr>
        <p:txBody>
          <a:bodyPr anchor="ctr"/>
          <a:lstStyle>
            <a:lvl1pPr algn="ctr">
              <a:defRPr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Isosceles Triangle 6"/>
          <p:cNvSpPr/>
          <p:nvPr userDrawn="1"/>
        </p:nvSpPr>
        <p:spPr>
          <a:xfrm rot="16200000">
            <a:off x="3315472" y="6567014"/>
            <a:ext cx="365760" cy="21272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9884463" y="6580732"/>
            <a:ext cx="488937" cy="187227"/>
            <a:chOff x="9858336" y="6580732"/>
            <a:chExt cx="488937" cy="187227"/>
          </a:xfrm>
        </p:grpSpPr>
        <p:sp>
          <p:nvSpPr>
            <p:cNvPr id="14" name="Isosceles Triangle 13"/>
            <p:cNvSpPr>
              <a:spLocks noChangeAspect="1"/>
            </p:cNvSpPr>
            <p:nvPr userDrawn="1"/>
          </p:nvSpPr>
          <p:spPr>
            <a:xfrm rot="5400000" flipH="1">
              <a:off x="9843721" y="6599694"/>
              <a:ext cx="182880" cy="153649"/>
            </a:xfrm>
            <a:prstGeom prst="triangle">
              <a:avLst/>
            </a:prstGeom>
            <a:solidFill>
              <a:srgbClr val="DB13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Isosceles Triangle 29"/>
            <p:cNvSpPr>
              <a:spLocks noChangeAspect="1"/>
            </p:cNvSpPr>
            <p:nvPr userDrawn="1"/>
          </p:nvSpPr>
          <p:spPr>
            <a:xfrm rot="5400000" flipH="1">
              <a:off x="9958188" y="6595347"/>
              <a:ext cx="182880" cy="153649"/>
            </a:xfrm>
            <a:prstGeom prst="triangle">
              <a:avLst/>
            </a:prstGeom>
            <a:solidFill>
              <a:srgbClr val="DB13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Isosceles Triangle 30"/>
            <p:cNvSpPr>
              <a:spLocks noChangeAspect="1"/>
            </p:cNvSpPr>
            <p:nvPr userDrawn="1"/>
          </p:nvSpPr>
          <p:spPr>
            <a:xfrm rot="5400000" flipH="1">
              <a:off x="10072953" y="6595347"/>
              <a:ext cx="182880" cy="153649"/>
            </a:xfrm>
            <a:prstGeom prst="triangle">
              <a:avLst/>
            </a:prstGeom>
            <a:solidFill>
              <a:srgbClr val="DB13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Isosceles Triangle 31"/>
            <p:cNvSpPr>
              <a:spLocks noChangeAspect="1"/>
            </p:cNvSpPr>
            <p:nvPr userDrawn="1"/>
          </p:nvSpPr>
          <p:spPr>
            <a:xfrm rot="5400000" flipH="1">
              <a:off x="10179009" y="6595347"/>
              <a:ext cx="182880" cy="153649"/>
            </a:xfrm>
            <a:prstGeom prst="triangle">
              <a:avLst/>
            </a:prstGeom>
            <a:solidFill>
              <a:srgbClr val="DB13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10318343" y="6531038"/>
            <a:ext cx="1476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DB1348"/>
                </a:solidFill>
                <a:latin typeface="+mj-lt"/>
              </a:rPr>
              <a:t>DEPLOY</a:t>
            </a:r>
            <a:r>
              <a:rPr lang="en-US" sz="1200" baseline="0" dirty="0">
                <a:solidFill>
                  <a:srgbClr val="DB1348"/>
                </a:solidFill>
                <a:latin typeface="+mj-lt"/>
              </a:rPr>
              <a:t> FOR GROWTH</a:t>
            </a:r>
            <a:endParaRPr lang="en-US" sz="1200" dirty="0">
              <a:solidFill>
                <a:srgbClr val="DB134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4718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DB134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626" y="1701569"/>
            <a:ext cx="7312860" cy="151125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latin typeface="Franklin Gothic Medium" panose="020B0603020102020204" pitchFamily="34" charset="0"/>
              </a:rPr>
              <a:t>LANDMARK</a:t>
            </a:r>
            <a:r>
              <a:rPr lang="en-US" sz="4000" dirty="0"/>
              <a:t> OCCASION VISUALIZER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878" y="3229783"/>
            <a:ext cx="7286356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Kellogg’s Share of Occasion Performance Dashboard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029" r="13962"/>
          <a:stretch/>
        </p:blipFill>
        <p:spPr>
          <a:xfrm>
            <a:off x="7829168" y="717819"/>
            <a:ext cx="4105656" cy="4084708"/>
          </a:xfrm>
          <a:prstGeom prst="rect">
            <a:avLst/>
          </a:prstGeom>
        </p:spPr>
      </p:pic>
      <p:sp>
        <p:nvSpPr>
          <p:cNvPr id="3" name="Country">
            <a:extLst>
              <a:ext uri="{FF2B5EF4-FFF2-40B4-BE49-F238E27FC236}">
                <a16:creationId xmlns:a16="http://schemas.microsoft.com/office/drawing/2014/main" id="{605E85C7-B48B-45A6-AFB2-AC72928680EA}"/>
              </a:ext>
            </a:extLst>
          </p:cNvPr>
          <p:cNvSpPr txBox="1"/>
          <p:nvPr/>
        </p:nvSpPr>
        <p:spPr>
          <a:xfrm>
            <a:off x="277853" y="4041995"/>
            <a:ext cx="716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INSERT COUNTRY</a:t>
            </a:r>
            <a:endParaRPr lang="en-IN" dirty="0"/>
          </a:p>
        </p:txBody>
      </p:sp>
      <p:sp>
        <p:nvSpPr>
          <p:cNvPr id="12" name="Category">
            <a:extLst>
              <a:ext uri="{FF2B5EF4-FFF2-40B4-BE49-F238E27FC236}">
                <a16:creationId xmlns:a16="http://schemas.microsoft.com/office/drawing/2014/main" id="{6A6CC3CC-1F85-40C3-A39B-5BDBD3E0D4B5}"/>
              </a:ext>
            </a:extLst>
          </p:cNvPr>
          <p:cNvSpPr txBox="1"/>
          <p:nvPr/>
        </p:nvSpPr>
        <p:spPr>
          <a:xfrm>
            <a:off x="276420" y="4424579"/>
            <a:ext cx="625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INSERT CATEGORY</a:t>
            </a:r>
            <a:endParaRPr lang="en-IN" dirty="0"/>
          </a:p>
        </p:txBody>
      </p:sp>
      <p:sp>
        <p:nvSpPr>
          <p:cNvPr id="13" name="TimePeriod">
            <a:extLst>
              <a:ext uri="{FF2B5EF4-FFF2-40B4-BE49-F238E27FC236}">
                <a16:creationId xmlns:a16="http://schemas.microsoft.com/office/drawing/2014/main" id="{9950D915-453B-4498-976D-46194906D829}"/>
              </a:ext>
            </a:extLst>
          </p:cNvPr>
          <p:cNvSpPr txBox="1"/>
          <p:nvPr/>
        </p:nvSpPr>
        <p:spPr>
          <a:xfrm>
            <a:off x="276520" y="4834742"/>
            <a:ext cx="5804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INSERT TIME PERIOD</a:t>
            </a:r>
            <a:endParaRPr lang="en-IN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B179B8D9-4D5B-460E-9CEB-D6AC368DB873}"/>
              </a:ext>
            </a:extLst>
          </p:cNvPr>
          <p:cNvSpPr txBox="1"/>
          <p:nvPr/>
        </p:nvSpPr>
        <p:spPr>
          <a:xfrm>
            <a:off x="278902" y="5204074"/>
            <a:ext cx="10180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white"/>
                </a:solidFill>
                <a:latin typeface="+mj-lt"/>
              </a:rPr>
              <a:t>Insert Date</a:t>
            </a:r>
          </a:p>
        </p:txBody>
      </p:sp>
    </p:spTree>
    <p:extLst>
      <p:ext uri="{BB962C8B-B14F-4D97-AF65-F5344CB8AC3E}">
        <p14:creationId xmlns:p14="http://schemas.microsoft.com/office/powerpoint/2010/main" val="2212145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783">
              <a:defRPr/>
            </a:pPr>
            <a:fld id="{A26DCA39-FE7E-4B33-9419-C9BB65BD885E}" type="slidenum">
              <a:rPr lang="en-US" sz="1000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783">
                <a:defRPr/>
              </a:pPr>
              <a:t>2</a:t>
            </a:fld>
            <a:endParaRPr lang="en-US" sz="1000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04663-7CDA-45A6-BF8B-3C57C812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6468797"/>
            <a:ext cx="3628864" cy="403271"/>
          </a:xfrm>
          <a:prstGeom prst="rect">
            <a:avLst/>
          </a:prstGeom>
        </p:spPr>
      </p:pic>
      <p:sp>
        <p:nvSpPr>
          <p:cNvPr id="22" name="SelectionSummary">
            <a:extLst>
              <a:ext uri="{FF2B5EF4-FFF2-40B4-BE49-F238E27FC236}">
                <a16:creationId xmlns:a16="http://schemas.microsoft.com/office/drawing/2014/main" id="{68B4E3CC-7268-4EF6-91D8-D82179829EDE}"/>
              </a:ext>
            </a:extLst>
          </p:cNvPr>
          <p:cNvSpPr txBox="1"/>
          <p:nvPr/>
        </p:nvSpPr>
        <p:spPr>
          <a:xfrm>
            <a:off x="0" y="469103"/>
            <a:ext cx="11929337" cy="2540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051" dirty="0"/>
              <a:t>Selection Summary : </a:t>
            </a:r>
            <a:r>
              <a:rPr lang="en-US" sz="105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Period :  2020 |Markets : Mexico |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 : </a:t>
            </a:r>
            <a:endParaRPr lang="en-US" sz="1100" dirty="0"/>
          </a:p>
        </p:txBody>
      </p:sp>
      <p:sp>
        <p:nvSpPr>
          <p:cNvPr id="33" name="Title 4">
            <a:extLst>
              <a:ext uri="{FF2B5EF4-FFF2-40B4-BE49-F238E27FC236}">
                <a16:creationId xmlns:a16="http://schemas.microsoft.com/office/drawing/2014/main" id="{F5891114-9CB8-466D-970D-C908FDA7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45" y="20123"/>
            <a:ext cx="11842590" cy="41195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DB1348"/>
                </a:solidFill>
                <a:latin typeface="Franklin Gothic Medium" panose="020B0603020102020204" pitchFamily="34" charset="0"/>
              </a:rPr>
              <a:t>Kellogg’s Share of Occasion Performance Dashboard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701AF-D65B-48D0-8FC4-B3B28F36D452}"/>
              </a:ext>
            </a:extLst>
          </p:cNvPr>
          <p:cNvGrpSpPr/>
          <p:nvPr/>
        </p:nvGrpSpPr>
        <p:grpSpPr>
          <a:xfrm>
            <a:off x="3564891" y="6513391"/>
            <a:ext cx="6292849" cy="338554"/>
            <a:chOff x="3625851" y="6513391"/>
            <a:chExt cx="6292849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DB9B8-0BD7-474A-9868-51BA4B569C85}"/>
                </a:ext>
              </a:extLst>
            </p:cNvPr>
            <p:cNvSpPr txBox="1"/>
            <p:nvPr/>
          </p:nvSpPr>
          <p:spPr>
            <a:xfrm>
              <a:off x="3625851" y="6513391"/>
              <a:ext cx="6292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Source: Project Landmark || Strategic Postures displayed are Business Driven || Target @ 90% CL based on Strategic Postures || LS: Insufficient sample(&lt; 150) || Low Sample    150 -250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691B1FD-B30E-4284-9A1C-E2CB42150B37}"/>
                </a:ext>
              </a:extLst>
            </p:cNvPr>
            <p:cNvSpPr/>
            <p:nvPr/>
          </p:nvSpPr>
          <p:spPr>
            <a:xfrm>
              <a:off x="4953379" y="6723274"/>
              <a:ext cx="48044" cy="36381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5009934-F95A-4C20-A1C1-71D34A6B4A4B}"/>
              </a:ext>
            </a:extLst>
          </p:cNvPr>
          <p:cNvGraphicFramePr>
            <a:graphicFrameLocks noGrp="1"/>
          </p:cNvGraphicFramePr>
          <p:nvPr/>
        </p:nvGraphicFramePr>
        <p:xfrm>
          <a:off x="5433093" y="846901"/>
          <a:ext cx="654668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524">
                  <a:extLst>
                    <a:ext uri="{9D8B030D-6E8A-4147-A177-3AD203B41FA5}">
                      <a16:colId xmlns:a16="http://schemas.microsoft.com/office/drawing/2014/main" val="983349565"/>
                    </a:ext>
                  </a:extLst>
                </a:gridCol>
                <a:gridCol w="1297524">
                  <a:extLst>
                    <a:ext uri="{9D8B030D-6E8A-4147-A177-3AD203B41FA5}">
                      <a16:colId xmlns:a16="http://schemas.microsoft.com/office/drawing/2014/main" val="4134036118"/>
                    </a:ext>
                  </a:extLst>
                </a:gridCol>
                <a:gridCol w="1392906">
                  <a:extLst>
                    <a:ext uri="{9D8B030D-6E8A-4147-A177-3AD203B41FA5}">
                      <a16:colId xmlns:a16="http://schemas.microsoft.com/office/drawing/2014/main" val="2068797701"/>
                    </a:ext>
                  </a:extLst>
                </a:gridCol>
                <a:gridCol w="1342017">
                  <a:extLst>
                    <a:ext uri="{9D8B030D-6E8A-4147-A177-3AD203B41FA5}">
                      <a16:colId xmlns:a16="http://schemas.microsoft.com/office/drawing/2014/main" val="470120981"/>
                    </a:ext>
                  </a:extLst>
                </a:gridCol>
                <a:gridCol w="1216714">
                  <a:extLst>
                    <a:ext uri="{9D8B030D-6E8A-4147-A177-3AD203B41FA5}">
                      <a16:colId xmlns:a16="http://schemas.microsoft.com/office/drawing/2014/main" val="1767098281"/>
                    </a:ext>
                  </a:extLst>
                </a:gridCol>
              </a:tblGrid>
              <a:tr h="179446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Significantly Better</a:t>
                      </a:r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Directionally Better</a:t>
                      </a:r>
                    </a:p>
                  </a:txBody>
                  <a:tcPr>
                    <a:lnL w="571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Directionally Worse</a:t>
                      </a:r>
                    </a:p>
                  </a:txBody>
                  <a:tcPr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Significant Worse</a:t>
                      </a:r>
                    </a:p>
                  </a:txBody>
                  <a:tcPr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Flat</a:t>
                      </a:r>
                    </a:p>
                  </a:txBody>
                  <a:tcPr>
                    <a:lnL w="571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833857"/>
                  </a:ext>
                </a:extLst>
              </a:tr>
            </a:tbl>
          </a:graphicData>
        </a:graphic>
      </p:graphicFrame>
      <p:graphicFrame>
        <p:nvGraphicFramePr>
          <p:cNvPr id="11" name="TimePeriodHeaderTable">
            <a:extLst>
              <a:ext uri="{FF2B5EF4-FFF2-40B4-BE49-F238E27FC236}">
                <a16:creationId xmlns:a16="http://schemas.microsoft.com/office/drawing/2014/main" id="{82CC2619-5DD9-481E-80CC-31F898D9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76719"/>
              </p:ext>
            </p:extLst>
          </p:nvPr>
        </p:nvGraphicFramePr>
        <p:xfrm>
          <a:off x="4203091" y="1168856"/>
          <a:ext cx="7726245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8176">
                  <a:extLst>
                    <a:ext uri="{9D8B030D-6E8A-4147-A177-3AD203B41FA5}">
                      <a16:colId xmlns:a16="http://schemas.microsoft.com/office/drawing/2014/main" val="1950824745"/>
                    </a:ext>
                  </a:extLst>
                </a:gridCol>
                <a:gridCol w="3698069">
                  <a:extLst>
                    <a:ext uri="{9D8B030D-6E8A-4147-A177-3AD203B41FA5}">
                      <a16:colId xmlns:a16="http://schemas.microsoft.com/office/drawing/2014/main" val="1880352513"/>
                    </a:ext>
                  </a:extLst>
                </a:gridCol>
              </a:tblGrid>
              <a:tr h="2540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K.SHARE OF OCCASION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Q1 2020</a:t>
                      </a:r>
                      <a:endParaRPr lang="en-IN" sz="1200" dirty="0"/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1082"/>
                  </a:ext>
                </a:extLst>
              </a:tr>
            </a:tbl>
          </a:graphicData>
        </a:graphic>
      </p:graphicFrame>
      <p:graphicFrame>
        <p:nvGraphicFramePr>
          <p:cNvPr id="14" name="DataTable">
            <a:extLst>
              <a:ext uri="{FF2B5EF4-FFF2-40B4-BE49-F238E27FC236}">
                <a16:creationId xmlns:a16="http://schemas.microsoft.com/office/drawing/2014/main" id="{F0DE734B-B0C3-4DFD-A3FD-28C1C2A7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576580"/>
              </p:ext>
            </p:extLst>
          </p:nvPr>
        </p:nvGraphicFramePr>
        <p:xfrm>
          <a:off x="105816" y="1468040"/>
          <a:ext cx="11873962" cy="4927710"/>
        </p:xfrm>
        <a:graphic>
          <a:graphicData uri="http://schemas.openxmlformats.org/drawingml/2006/table">
            <a:tbl>
              <a:tblPr/>
              <a:tblGrid>
                <a:gridCol w="52880">
                  <a:extLst>
                    <a:ext uri="{9D8B030D-6E8A-4147-A177-3AD203B41FA5}">
                      <a16:colId xmlns:a16="http://schemas.microsoft.com/office/drawing/2014/main" val="309470362"/>
                    </a:ext>
                  </a:extLst>
                </a:gridCol>
                <a:gridCol w="2983585">
                  <a:extLst>
                    <a:ext uri="{9D8B030D-6E8A-4147-A177-3AD203B41FA5}">
                      <a16:colId xmlns:a16="http://schemas.microsoft.com/office/drawing/2014/main" val="3760263842"/>
                    </a:ext>
                  </a:extLst>
                </a:gridCol>
                <a:gridCol w="1833904">
                  <a:extLst>
                    <a:ext uri="{9D8B030D-6E8A-4147-A177-3AD203B41FA5}">
                      <a16:colId xmlns:a16="http://schemas.microsoft.com/office/drawing/2014/main" val="1753206859"/>
                    </a:ext>
                  </a:extLst>
                </a:gridCol>
                <a:gridCol w="2030453">
                  <a:extLst>
                    <a:ext uri="{9D8B030D-6E8A-4147-A177-3AD203B41FA5}">
                      <a16:colId xmlns:a16="http://schemas.microsoft.com/office/drawing/2014/main" val="4241365871"/>
                    </a:ext>
                  </a:extLst>
                </a:gridCol>
                <a:gridCol w="1971599">
                  <a:extLst>
                    <a:ext uri="{9D8B030D-6E8A-4147-A177-3AD203B41FA5}">
                      <a16:colId xmlns:a16="http://schemas.microsoft.com/office/drawing/2014/main" val="4061532482"/>
                    </a:ext>
                  </a:extLst>
                </a:gridCol>
                <a:gridCol w="1765612">
                  <a:extLst>
                    <a:ext uri="{9D8B030D-6E8A-4147-A177-3AD203B41FA5}">
                      <a16:colId xmlns:a16="http://schemas.microsoft.com/office/drawing/2014/main" val="3358734463"/>
                    </a:ext>
                  </a:extLst>
                </a:gridCol>
                <a:gridCol w="1235929">
                  <a:extLst>
                    <a:ext uri="{9D8B030D-6E8A-4147-A177-3AD203B41FA5}">
                      <a16:colId xmlns:a16="http://schemas.microsoft.com/office/drawing/2014/main" val="3402818338"/>
                    </a:ext>
                  </a:extLst>
                </a:gridCol>
              </a:tblGrid>
              <a:tr h="413040">
                <a:tc rowSpan="2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b="1" dirty="0"/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b="1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2019</a:t>
                      </a:r>
                    </a:p>
                    <a:p>
                      <a:pPr algn="ctr"/>
                      <a:r>
                        <a:rPr lang="en-US" sz="1000" dirty="0"/>
                        <a:t>Benchmark</a:t>
                      </a:r>
                      <a:endParaRPr lang="en-IN" sz="1000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2020</a:t>
                      </a:r>
                    </a:p>
                    <a:p>
                      <a:pPr algn="ctr"/>
                      <a:r>
                        <a:rPr lang="en-US" sz="1000" dirty="0"/>
                        <a:t>Target (pts change)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K. Share of </a:t>
                      </a:r>
                    </a:p>
                    <a:p>
                      <a:pPr algn="ctr"/>
                      <a:r>
                        <a:rPr lang="en-US" sz="1000" dirty="0"/>
                        <a:t> Occasion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vs 2019</a:t>
                      </a:r>
                    </a:p>
                    <a:p>
                      <a:pPr algn="ctr"/>
                      <a:r>
                        <a:rPr lang="en-US" sz="1000" dirty="0"/>
                        <a:t> Benchmark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6657"/>
                  </a:ext>
                </a:extLst>
              </a:tr>
              <a:tr h="3009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 OCCASIONS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STRATEGIC POSTURES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35.5%(4%)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742089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EARLY MORNING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29.8%(0%)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30.0%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01643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FOR ONE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36.4%(3%)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872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FAMILY BREAKFAST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33.2%(3%)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3325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@ WORK / SCHOOL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38.9%(9%)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68191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MID MORNING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37.6%(6%)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182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40.5%(6%)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1.5%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39142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39.2%(6%)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6.2%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3415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AFTERNOON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24.8%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29.8%(5%)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25.2%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9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 WORK / SCHOOL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898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55134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39.5%(0%)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38.9%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6487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ME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36.5%(0%)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612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WE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4411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BEDTIME / LATE NIGHT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37.5%(5%)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82712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FD6022C8-97F8-45CC-8EAA-37ED7D5975D5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48251" y="3751824"/>
            <a:ext cx="5169519" cy="468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A9EF9E3-951B-452A-8935-558E1A61402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390984" y="3737756"/>
            <a:ext cx="5169519" cy="468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4668A9-BEC1-4EAA-B097-0FB09D4BC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397150" y="3751824"/>
            <a:ext cx="5169519" cy="468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B0C2BF-238E-4046-AC3A-26B4B40E100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341763" y="3849000"/>
            <a:ext cx="4863804" cy="45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A0689C-264A-43F9-9045-47B26B6A6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105591" y="4028187"/>
            <a:ext cx="4432757" cy="118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4291A-D182-4A21-A9B9-F35B7DE40A66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166029" y="3952956"/>
            <a:ext cx="5169519" cy="468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4F2506-CD02-4EB8-9BD5-7C5D98FC3753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410113" y="3986088"/>
            <a:ext cx="5169519" cy="4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4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783">
              <a:defRPr/>
            </a:pPr>
            <a:fld id="{A26DCA39-FE7E-4B33-9419-C9BB65BD885E}" type="slidenum">
              <a:rPr lang="en-US" sz="1000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783">
                <a:defRPr/>
              </a:pPr>
              <a:t>3</a:t>
            </a:fld>
            <a:endParaRPr lang="en-US" sz="1000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04663-7CDA-45A6-BF8B-3C57C812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6468797"/>
            <a:ext cx="3628864" cy="403271"/>
          </a:xfrm>
          <a:prstGeom prst="rect">
            <a:avLst/>
          </a:prstGeom>
        </p:spPr>
      </p:pic>
      <p:sp>
        <p:nvSpPr>
          <p:cNvPr id="22" name="SelectionSummary">
            <a:extLst>
              <a:ext uri="{FF2B5EF4-FFF2-40B4-BE49-F238E27FC236}">
                <a16:creationId xmlns:a16="http://schemas.microsoft.com/office/drawing/2014/main" id="{68B4E3CC-7268-4EF6-91D8-D82179829EDE}"/>
              </a:ext>
            </a:extLst>
          </p:cNvPr>
          <p:cNvSpPr txBox="1"/>
          <p:nvPr/>
        </p:nvSpPr>
        <p:spPr>
          <a:xfrm>
            <a:off x="0" y="469103"/>
            <a:ext cx="11929337" cy="2540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051" dirty="0"/>
              <a:t>Selection Summary : </a:t>
            </a:r>
            <a:r>
              <a:rPr lang="en-US" sz="105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Period :  2020        | Markets :      Mexico   | 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 : </a:t>
            </a:r>
            <a:endParaRPr lang="en-US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701AF-D65B-48D0-8FC4-B3B28F36D452}"/>
              </a:ext>
            </a:extLst>
          </p:cNvPr>
          <p:cNvGrpSpPr/>
          <p:nvPr/>
        </p:nvGrpSpPr>
        <p:grpSpPr>
          <a:xfrm>
            <a:off x="3564891" y="6513391"/>
            <a:ext cx="6292849" cy="338554"/>
            <a:chOff x="3625851" y="6513391"/>
            <a:chExt cx="6292849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DB9B8-0BD7-474A-9868-51BA4B569C85}"/>
                </a:ext>
              </a:extLst>
            </p:cNvPr>
            <p:cNvSpPr txBox="1"/>
            <p:nvPr/>
          </p:nvSpPr>
          <p:spPr>
            <a:xfrm>
              <a:off x="3625851" y="6513391"/>
              <a:ext cx="6292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Source: Project Landmark || Strategic Postures displayed are Business Driven || Target @ 90% CL based on Strategic Postures || LS: Insufficient sample(&lt; 150) || Low Sample    150-250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691B1FD-B30E-4284-9A1C-E2CB42150B37}"/>
                </a:ext>
              </a:extLst>
            </p:cNvPr>
            <p:cNvSpPr/>
            <p:nvPr/>
          </p:nvSpPr>
          <p:spPr>
            <a:xfrm>
              <a:off x="4953379" y="6723274"/>
              <a:ext cx="48044" cy="36381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11" name="TimePeriodHeaderTable">
            <a:extLst>
              <a:ext uri="{FF2B5EF4-FFF2-40B4-BE49-F238E27FC236}">
                <a16:creationId xmlns:a16="http://schemas.microsoft.com/office/drawing/2014/main" id="{82CC2619-5DD9-481E-80CC-31F898D9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524109"/>
              </p:ext>
            </p:extLst>
          </p:nvPr>
        </p:nvGraphicFramePr>
        <p:xfrm>
          <a:off x="4847968" y="847204"/>
          <a:ext cx="707635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407">
                  <a:extLst>
                    <a:ext uri="{9D8B030D-6E8A-4147-A177-3AD203B41FA5}">
                      <a16:colId xmlns:a16="http://schemas.microsoft.com/office/drawing/2014/main" val="2802719927"/>
                    </a:ext>
                  </a:extLst>
                </a:gridCol>
                <a:gridCol w="1590038">
                  <a:extLst>
                    <a:ext uri="{9D8B030D-6E8A-4147-A177-3AD203B41FA5}">
                      <a16:colId xmlns:a16="http://schemas.microsoft.com/office/drawing/2014/main" val="2773042899"/>
                    </a:ext>
                  </a:extLst>
                </a:gridCol>
                <a:gridCol w="1754389">
                  <a:extLst>
                    <a:ext uri="{9D8B030D-6E8A-4147-A177-3AD203B41FA5}">
                      <a16:colId xmlns:a16="http://schemas.microsoft.com/office/drawing/2014/main" val="1306154173"/>
                    </a:ext>
                  </a:extLst>
                </a:gridCol>
                <a:gridCol w="1457521">
                  <a:extLst>
                    <a:ext uri="{9D8B030D-6E8A-4147-A177-3AD203B41FA5}">
                      <a16:colId xmlns:a16="http://schemas.microsoft.com/office/drawing/2014/main" val="2856857987"/>
                    </a:ext>
                  </a:extLst>
                </a:gridCol>
              </a:tblGrid>
              <a:tr h="2540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1082"/>
                  </a:ext>
                </a:extLst>
              </a:tr>
            </a:tbl>
          </a:graphicData>
        </a:graphic>
      </p:graphicFrame>
      <p:graphicFrame>
        <p:nvGraphicFramePr>
          <p:cNvPr id="14" name="DataTable">
            <a:extLst>
              <a:ext uri="{FF2B5EF4-FFF2-40B4-BE49-F238E27FC236}">
                <a16:creationId xmlns:a16="http://schemas.microsoft.com/office/drawing/2014/main" id="{F0DE734B-B0C3-4DFD-A3FD-28C1C2A7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651285"/>
              </p:ext>
            </p:extLst>
          </p:nvPr>
        </p:nvGraphicFramePr>
        <p:xfrm>
          <a:off x="169980" y="1362017"/>
          <a:ext cx="11754342" cy="5013815"/>
        </p:xfrm>
        <a:graphic>
          <a:graphicData uri="http://schemas.openxmlformats.org/drawingml/2006/table">
            <a:tbl>
              <a:tblPr/>
              <a:tblGrid>
                <a:gridCol w="55799">
                  <a:extLst>
                    <a:ext uri="{9D8B030D-6E8A-4147-A177-3AD203B41FA5}">
                      <a16:colId xmlns:a16="http://schemas.microsoft.com/office/drawing/2014/main" val="309470362"/>
                    </a:ext>
                  </a:extLst>
                </a:gridCol>
                <a:gridCol w="2398151">
                  <a:extLst>
                    <a:ext uri="{9D8B030D-6E8A-4147-A177-3AD203B41FA5}">
                      <a16:colId xmlns:a16="http://schemas.microsoft.com/office/drawing/2014/main" val="3760263842"/>
                    </a:ext>
                  </a:extLst>
                </a:gridCol>
                <a:gridCol w="2252870">
                  <a:extLst>
                    <a:ext uri="{9D8B030D-6E8A-4147-A177-3AD203B41FA5}">
                      <a16:colId xmlns:a16="http://schemas.microsoft.com/office/drawing/2014/main" val="1753206859"/>
                    </a:ext>
                  </a:extLst>
                </a:gridCol>
                <a:gridCol w="2260249">
                  <a:extLst>
                    <a:ext uri="{9D8B030D-6E8A-4147-A177-3AD203B41FA5}">
                      <a16:colId xmlns:a16="http://schemas.microsoft.com/office/drawing/2014/main" val="4241365871"/>
                    </a:ext>
                  </a:extLst>
                </a:gridCol>
                <a:gridCol w="1596995">
                  <a:extLst>
                    <a:ext uri="{9D8B030D-6E8A-4147-A177-3AD203B41FA5}">
                      <a16:colId xmlns:a16="http://schemas.microsoft.com/office/drawing/2014/main" val="4061532482"/>
                    </a:ext>
                  </a:extLst>
                </a:gridCol>
                <a:gridCol w="1662851">
                  <a:extLst>
                    <a:ext uri="{9D8B030D-6E8A-4147-A177-3AD203B41FA5}">
                      <a16:colId xmlns:a16="http://schemas.microsoft.com/office/drawing/2014/main" val="3745225745"/>
                    </a:ext>
                  </a:extLst>
                </a:gridCol>
                <a:gridCol w="1527427">
                  <a:extLst>
                    <a:ext uri="{9D8B030D-6E8A-4147-A177-3AD203B41FA5}">
                      <a16:colId xmlns:a16="http://schemas.microsoft.com/office/drawing/2014/main" val="3399650800"/>
                    </a:ext>
                  </a:extLst>
                </a:gridCol>
              </a:tblGrid>
              <a:tr h="413040">
                <a:tc rowSpan="2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6657"/>
                  </a:ext>
                </a:extLst>
              </a:tr>
              <a:tr h="3009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 OCCASIONS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STRATEGIC POSTURES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742089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EARLY MORNING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01643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FOR ONE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872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FAMILY BREAKFAST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33255"/>
                  </a:ext>
                </a:extLst>
              </a:tr>
              <a:tr h="387083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@ WORK / SCHOOL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68191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MID MORNING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182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39142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3415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AFTERNOON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9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 WORK / SCHOOL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898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55134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6487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ME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612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WE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4411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BEDTIME / LATE NIGHT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82712"/>
                  </a:ext>
                </a:extLst>
              </a:tr>
            </a:tbl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BA4668A9-BEC1-4EAA-B097-0FB09D4BC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152640" y="3601246"/>
            <a:ext cx="5471845" cy="457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B0C2BF-238E-4046-AC3A-26B4B40E100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108817" y="3809243"/>
            <a:ext cx="4863804" cy="45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A0689C-264A-43F9-9045-47B26B6A6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105591" y="4028187"/>
            <a:ext cx="4432757" cy="11838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BFF519-82AE-43C7-BA41-1D7875CF950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31947" y="3545144"/>
            <a:ext cx="5485868" cy="4572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342F3E-6C01-4A0C-BE05-115A2F59912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660569" y="3574898"/>
            <a:ext cx="5485868" cy="457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2EA9D6B-AC81-4C49-9219-076D4752F4B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204251" y="3574898"/>
            <a:ext cx="5485868" cy="45720"/>
          </a:xfrm>
          <a:prstGeom prst="rect">
            <a:avLst/>
          </a:prstGeom>
        </p:spPr>
      </p:pic>
      <p:sp>
        <p:nvSpPr>
          <p:cNvPr id="52" name="Title 4">
            <a:extLst>
              <a:ext uri="{FF2B5EF4-FFF2-40B4-BE49-F238E27FC236}">
                <a16:creationId xmlns:a16="http://schemas.microsoft.com/office/drawing/2014/main" id="{5563C033-5D99-4D7E-A7CC-3B2AD4D7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45" y="20123"/>
            <a:ext cx="11842590" cy="41195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DB1348"/>
                </a:solidFill>
                <a:latin typeface="Franklin Gothic Medium" panose="020B0603020102020204" pitchFamily="34" charset="0"/>
              </a:rPr>
              <a:t>KELLOGG’S SAMPLE SIZE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2481BBF-C234-42CF-86C4-6C1D54D5D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28" y="773626"/>
            <a:ext cx="42676" cy="54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71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783">
              <a:defRPr/>
            </a:pPr>
            <a:fld id="{A26DCA39-FE7E-4B33-9419-C9BB65BD885E}" type="slidenum">
              <a:rPr lang="en-US" sz="1000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783">
                <a:defRPr/>
              </a:pPr>
              <a:t>4</a:t>
            </a:fld>
            <a:endParaRPr lang="en-US" sz="1000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04663-7CDA-45A6-BF8B-3C57C812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6468797"/>
            <a:ext cx="3628864" cy="403271"/>
          </a:xfrm>
          <a:prstGeom prst="rect">
            <a:avLst/>
          </a:prstGeom>
        </p:spPr>
      </p:pic>
      <p:sp>
        <p:nvSpPr>
          <p:cNvPr id="22" name="SelectionSummary">
            <a:extLst>
              <a:ext uri="{FF2B5EF4-FFF2-40B4-BE49-F238E27FC236}">
                <a16:creationId xmlns:a16="http://schemas.microsoft.com/office/drawing/2014/main" id="{68B4E3CC-7268-4EF6-91D8-D82179829EDE}"/>
              </a:ext>
            </a:extLst>
          </p:cNvPr>
          <p:cNvSpPr txBox="1"/>
          <p:nvPr/>
        </p:nvSpPr>
        <p:spPr>
          <a:xfrm>
            <a:off x="0" y="469103"/>
            <a:ext cx="11929337" cy="2540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051" dirty="0"/>
              <a:t>Selection Summary : </a:t>
            </a:r>
            <a:r>
              <a:rPr lang="en-US" sz="105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Period :  2020        | Markets :      Mexico   | 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 : </a:t>
            </a:r>
            <a:endParaRPr lang="en-US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701AF-D65B-48D0-8FC4-B3B28F36D452}"/>
              </a:ext>
            </a:extLst>
          </p:cNvPr>
          <p:cNvGrpSpPr/>
          <p:nvPr/>
        </p:nvGrpSpPr>
        <p:grpSpPr>
          <a:xfrm>
            <a:off x="3564891" y="6513391"/>
            <a:ext cx="6292849" cy="338554"/>
            <a:chOff x="3625851" y="6513391"/>
            <a:chExt cx="6292849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DB9B8-0BD7-474A-9868-51BA4B569C85}"/>
                </a:ext>
              </a:extLst>
            </p:cNvPr>
            <p:cNvSpPr txBox="1"/>
            <p:nvPr/>
          </p:nvSpPr>
          <p:spPr>
            <a:xfrm>
              <a:off x="3625851" y="6513391"/>
              <a:ext cx="6292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Source: Project Landmark || Strategic Postures displayed are Business Driven || Target @ 90% CL based on Strategic Postures || LS: Insufficient sample(&lt; 150) || Low Sample    150-250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691B1FD-B30E-4284-9A1C-E2CB42150B37}"/>
                </a:ext>
              </a:extLst>
            </p:cNvPr>
            <p:cNvSpPr/>
            <p:nvPr/>
          </p:nvSpPr>
          <p:spPr>
            <a:xfrm>
              <a:off x="4959729" y="6723274"/>
              <a:ext cx="48044" cy="36381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11" name="TimePeriodHeaderTable">
            <a:extLst>
              <a:ext uri="{FF2B5EF4-FFF2-40B4-BE49-F238E27FC236}">
                <a16:creationId xmlns:a16="http://schemas.microsoft.com/office/drawing/2014/main" id="{82CC2619-5DD9-481E-80CC-31F898D9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774874"/>
              </p:ext>
            </p:extLst>
          </p:nvPr>
        </p:nvGraphicFramePr>
        <p:xfrm>
          <a:off x="4847968" y="847204"/>
          <a:ext cx="707635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407">
                  <a:extLst>
                    <a:ext uri="{9D8B030D-6E8A-4147-A177-3AD203B41FA5}">
                      <a16:colId xmlns:a16="http://schemas.microsoft.com/office/drawing/2014/main" val="2802719927"/>
                    </a:ext>
                  </a:extLst>
                </a:gridCol>
                <a:gridCol w="1590038">
                  <a:extLst>
                    <a:ext uri="{9D8B030D-6E8A-4147-A177-3AD203B41FA5}">
                      <a16:colId xmlns:a16="http://schemas.microsoft.com/office/drawing/2014/main" val="2773042899"/>
                    </a:ext>
                  </a:extLst>
                </a:gridCol>
                <a:gridCol w="1754389">
                  <a:extLst>
                    <a:ext uri="{9D8B030D-6E8A-4147-A177-3AD203B41FA5}">
                      <a16:colId xmlns:a16="http://schemas.microsoft.com/office/drawing/2014/main" val="1306154173"/>
                    </a:ext>
                  </a:extLst>
                </a:gridCol>
                <a:gridCol w="1457521">
                  <a:extLst>
                    <a:ext uri="{9D8B030D-6E8A-4147-A177-3AD203B41FA5}">
                      <a16:colId xmlns:a16="http://schemas.microsoft.com/office/drawing/2014/main" val="2856857987"/>
                    </a:ext>
                  </a:extLst>
                </a:gridCol>
              </a:tblGrid>
              <a:tr h="2540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1082"/>
                  </a:ext>
                </a:extLst>
              </a:tr>
            </a:tbl>
          </a:graphicData>
        </a:graphic>
      </p:graphicFrame>
      <p:graphicFrame>
        <p:nvGraphicFramePr>
          <p:cNvPr id="14" name="DataTable">
            <a:extLst>
              <a:ext uri="{FF2B5EF4-FFF2-40B4-BE49-F238E27FC236}">
                <a16:creationId xmlns:a16="http://schemas.microsoft.com/office/drawing/2014/main" id="{F0DE734B-B0C3-4DFD-A3FD-28C1C2A7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767146"/>
              </p:ext>
            </p:extLst>
          </p:nvPr>
        </p:nvGraphicFramePr>
        <p:xfrm>
          <a:off x="169980" y="1362017"/>
          <a:ext cx="11754342" cy="5013815"/>
        </p:xfrm>
        <a:graphic>
          <a:graphicData uri="http://schemas.openxmlformats.org/drawingml/2006/table">
            <a:tbl>
              <a:tblPr/>
              <a:tblGrid>
                <a:gridCol w="55799">
                  <a:extLst>
                    <a:ext uri="{9D8B030D-6E8A-4147-A177-3AD203B41FA5}">
                      <a16:colId xmlns:a16="http://schemas.microsoft.com/office/drawing/2014/main" val="309470362"/>
                    </a:ext>
                  </a:extLst>
                </a:gridCol>
                <a:gridCol w="2398151">
                  <a:extLst>
                    <a:ext uri="{9D8B030D-6E8A-4147-A177-3AD203B41FA5}">
                      <a16:colId xmlns:a16="http://schemas.microsoft.com/office/drawing/2014/main" val="3760263842"/>
                    </a:ext>
                  </a:extLst>
                </a:gridCol>
                <a:gridCol w="2252870">
                  <a:extLst>
                    <a:ext uri="{9D8B030D-6E8A-4147-A177-3AD203B41FA5}">
                      <a16:colId xmlns:a16="http://schemas.microsoft.com/office/drawing/2014/main" val="1753206859"/>
                    </a:ext>
                  </a:extLst>
                </a:gridCol>
                <a:gridCol w="2260249">
                  <a:extLst>
                    <a:ext uri="{9D8B030D-6E8A-4147-A177-3AD203B41FA5}">
                      <a16:colId xmlns:a16="http://schemas.microsoft.com/office/drawing/2014/main" val="4241365871"/>
                    </a:ext>
                  </a:extLst>
                </a:gridCol>
                <a:gridCol w="1596995">
                  <a:extLst>
                    <a:ext uri="{9D8B030D-6E8A-4147-A177-3AD203B41FA5}">
                      <a16:colId xmlns:a16="http://schemas.microsoft.com/office/drawing/2014/main" val="4061532482"/>
                    </a:ext>
                  </a:extLst>
                </a:gridCol>
                <a:gridCol w="1662851">
                  <a:extLst>
                    <a:ext uri="{9D8B030D-6E8A-4147-A177-3AD203B41FA5}">
                      <a16:colId xmlns:a16="http://schemas.microsoft.com/office/drawing/2014/main" val="3745225745"/>
                    </a:ext>
                  </a:extLst>
                </a:gridCol>
                <a:gridCol w="1527427">
                  <a:extLst>
                    <a:ext uri="{9D8B030D-6E8A-4147-A177-3AD203B41FA5}">
                      <a16:colId xmlns:a16="http://schemas.microsoft.com/office/drawing/2014/main" val="3399650800"/>
                    </a:ext>
                  </a:extLst>
                </a:gridCol>
              </a:tblGrid>
              <a:tr h="413040">
                <a:tc rowSpan="2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6657"/>
                  </a:ext>
                </a:extLst>
              </a:tr>
              <a:tr h="3009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 OCCASIONS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STRATEGIC POSTURES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742089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EARLY MORNING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01643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FOR ONE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872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FAMILY BREAKFAST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33255"/>
                  </a:ext>
                </a:extLst>
              </a:tr>
              <a:tr h="387083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@ WORK / SCHOOL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68191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MID MORNING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182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39142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3415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AFTERNOON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9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 WORK / SCHOOL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898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55134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6487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ME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612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WE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4411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BEDTIME / LATE NIGHT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82712"/>
                  </a:ext>
                </a:extLst>
              </a:tr>
            </a:tbl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BA4668A9-BEC1-4EAA-B097-0FB09D4BC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152640" y="3601246"/>
            <a:ext cx="5471845" cy="457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B0C2BF-238E-4046-AC3A-26B4B40E100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108817" y="3809243"/>
            <a:ext cx="4863804" cy="45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A0689C-264A-43F9-9045-47B26B6A6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105591" y="4028187"/>
            <a:ext cx="4432757" cy="11838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BFF519-82AE-43C7-BA41-1D7875CF950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31947" y="3545144"/>
            <a:ext cx="5485868" cy="4572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342F3E-6C01-4A0C-BE05-115A2F59912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660569" y="3574898"/>
            <a:ext cx="5485868" cy="457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2EA9D6B-AC81-4C49-9219-076D4752F4B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204251" y="3574898"/>
            <a:ext cx="5485868" cy="45720"/>
          </a:xfrm>
          <a:prstGeom prst="rect">
            <a:avLst/>
          </a:prstGeom>
        </p:spPr>
      </p:pic>
      <p:sp>
        <p:nvSpPr>
          <p:cNvPr id="52" name="Title 4">
            <a:extLst>
              <a:ext uri="{FF2B5EF4-FFF2-40B4-BE49-F238E27FC236}">
                <a16:creationId xmlns:a16="http://schemas.microsoft.com/office/drawing/2014/main" id="{5563C033-5D99-4D7E-A7CC-3B2AD4D7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45" y="20123"/>
            <a:ext cx="11842590" cy="41195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DB1348"/>
                </a:solidFill>
                <a:latin typeface="Franklin Gothic Medium" panose="020B0603020102020204" pitchFamily="34" charset="0"/>
              </a:rPr>
              <a:t>CATEGORY SAMPLE SIZE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2481BBF-C234-42CF-86C4-6C1D54D5D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28" y="773626"/>
            <a:ext cx="42676" cy="54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40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783">
              <a:defRPr/>
            </a:pPr>
            <a:fld id="{A26DCA39-FE7E-4B33-9419-C9BB65BD885E}" type="slidenum">
              <a:rPr lang="en-US" sz="1000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783">
                <a:defRPr/>
              </a:pPr>
              <a:t>5</a:t>
            </a:fld>
            <a:endParaRPr lang="en-US" sz="1000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04663-7CDA-45A6-BF8B-3C57C812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6468797"/>
            <a:ext cx="3628864" cy="403271"/>
          </a:xfrm>
          <a:prstGeom prst="rect">
            <a:avLst/>
          </a:prstGeom>
        </p:spPr>
      </p:pic>
      <p:sp>
        <p:nvSpPr>
          <p:cNvPr id="22" name="SelectionSummary">
            <a:extLst>
              <a:ext uri="{FF2B5EF4-FFF2-40B4-BE49-F238E27FC236}">
                <a16:creationId xmlns:a16="http://schemas.microsoft.com/office/drawing/2014/main" id="{68B4E3CC-7268-4EF6-91D8-D82179829EDE}"/>
              </a:ext>
            </a:extLst>
          </p:cNvPr>
          <p:cNvSpPr txBox="1"/>
          <p:nvPr/>
        </p:nvSpPr>
        <p:spPr>
          <a:xfrm>
            <a:off x="0" y="469103"/>
            <a:ext cx="11929337" cy="2540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051" dirty="0"/>
              <a:t>Selection Summary : </a:t>
            </a:r>
            <a:r>
              <a:rPr lang="en-US" sz="105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Period :  2020 |Markets : Mexico |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 : </a:t>
            </a:r>
            <a:endParaRPr lang="en-US" sz="1100" dirty="0"/>
          </a:p>
        </p:txBody>
      </p:sp>
      <p:sp>
        <p:nvSpPr>
          <p:cNvPr id="33" name="Title 4">
            <a:extLst>
              <a:ext uri="{FF2B5EF4-FFF2-40B4-BE49-F238E27FC236}">
                <a16:creationId xmlns:a16="http://schemas.microsoft.com/office/drawing/2014/main" id="{F5891114-9CB8-466D-970D-C908FDA7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45" y="20123"/>
            <a:ext cx="11842590" cy="41195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DB1348"/>
                </a:solidFill>
                <a:latin typeface="Franklin Gothic Medium" panose="020B0603020102020204" pitchFamily="34" charset="0"/>
              </a:rPr>
              <a:t>Kellogg’s Share of Occasion Performance Dashboard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701AF-D65B-48D0-8FC4-B3B28F36D452}"/>
              </a:ext>
            </a:extLst>
          </p:cNvPr>
          <p:cNvGrpSpPr/>
          <p:nvPr/>
        </p:nvGrpSpPr>
        <p:grpSpPr>
          <a:xfrm>
            <a:off x="3564891" y="6513391"/>
            <a:ext cx="6292849" cy="338554"/>
            <a:chOff x="3625851" y="6513391"/>
            <a:chExt cx="6292849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DB9B8-0BD7-474A-9868-51BA4B569C85}"/>
                </a:ext>
              </a:extLst>
            </p:cNvPr>
            <p:cNvSpPr txBox="1"/>
            <p:nvPr/>
          </p:nvSpPr>
          <p:spPr>
            <a:xfrm>
              <a:off x="3625851" y="6513391"/>
              <a:ext cx="6292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Source: Project Landmark || Strategic Postures displayed are Business Driven || Target @ 90% CL based on Strategic Postures || LS: Insufficient sample(&lt; 150) || Low Sample    150-250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691B1FD-B30E-4284-9A1C-E2CB42150B37}"/>
                </a:ext>
              </a:extLst>
            </p:cNvPr>
            <p:cNvSpPr/>
            <p:nvPr/>
          </p:nvSpPr>
          <p:spPr>
            <a:xfrm>
              <a:off x="4966079" y="6723274"/>
              <a:ext cx="48044" cy="36381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5009934-F95A-4C20-A1C1-71D34A6B4A4B}"/>
              </a:ext>
            </a:extLst>
          </p:cNvPr>
          <p:cNvGraphicFramePr>
            <a:graphicFrameLocks noGrp="1"/>
          </p:cNvGraphicFramePr>
          <p:nvPr/>
        </p:nvGraphicFramePr>
        <p:xfrm>
          <a:off x="5433093" y="846901"/>
          <a:ext cx="654668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524">
                  <a:extLst>
                    <a:ext uri="{9D8B030D-6E8A-4147-A177-3AD203B41FA5}">
                      <a16:colId xmlns:a16="http://schemas.microsoft.com/office/drawing/2014/main" val="983349565"/>
                    </a:ext>
                  </a:extLst>
                </a:gridCol>
                <a:gridCol w="1297524">
                  <a:extLst>
                    <a:ext uri="{9D8B030D-6E8A-4147-A177-3AD203B41FA5}">
                      <a16:colId xmlns:a16="http://schemas.microsoft.com/office/drawing/2014/main" val="4134036118"/>
                    </a:ext>
                  </a:extLst>
                </a:gridCol>
                <a:gridCol w="1392906">
                  <a:extLst>
                    <a:ext uri="{9D8B030D-6E8A-4147-A177-3AD203B41FA5}">
                      <a16:colId xmlns:a16="http://schemas.microsoft.com/office/drawing/2014/main" val="2068797701"/>
                    </a:ext>
                  </a:extLst>
                </a:gridCol>
                <a:gridCol w="1342017">
                  <a:extLst>
                    <a:ext uri="{9D8B030D-6E8A-4147-A177-3AD203B41FA5}">
                      <a16:colId xmlns:a16="http://schemas.microsoft.com/office/drawing/2014/main" val="470120981"/>
                    </a:ext>
                  </a:extLst>
                </a:gridCol>
                <a:gridCol w="1216714">
                  <a:extLst>
                    <a:ext uri="{9D8B030D-6E8A-4147-A177-3AD203B41FA5}">
                      <a16:colId xmlns:a16="http://schemas.microsoft.com/office/drawing/2014/main" val="1767098281"/>
                    </a:ext>
                  </a:extLst>
                </a:gridCol>
              </a:tblGrid>
              <a:tr h="179446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Significantly Better</a:t>
                      </a:r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Directionally Better</a:t>
                      </a:r>
                    </a:p>
                  </a:txBody>
                  <a:tcPr>
                    <a:lnL w="571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Directionally Worse</a:t>
                      </a:r>
                    </a:p>
                  </a:txBody>
                  <a:tcPr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Significant Worse</a:t>
                      </a:r>
                    </a:p>
                  </a:txBody>
                  <a:tcPr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Flat</a:t>
                      </a:r>
                    </a:p>
                  </a:txBody>
                  <a:tcPr>
                    <a:lnL w="571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833857"/>
                  </a:ext>
                </a:extLst>
              </a:tr>
            </a:tbl>
          </a:graphicData>
        </a:graphic>
      </p:graphicFrame>
      <p:graphicFrame>
        <p:nvGraphicFramePr>
          <p:cNvPr id="11" name="TimePeriodHeaderTable">
            <a:extLst>
              <a:ext uri="{FF2B5EF4-FFF2-40B4-BE49-F238E27FC236}">
                <a16:creationId xmlns:a16="http://schemas.microsoft.com/office/drawing/2014/main" id="{82CC2619-5DD9-481E-80CC-31F898D9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029489"/>
              </p:ext>
            </p:extLst>
          </p:nvPr>
        </p:nvGraphicFramePr>
        <p:xfrm>
          <a:off x="4203092" y="1168856"/>
          <a:ext cx="7776685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821">
                  <a:extLst>
                    <a:ext uri="{9D8B030D-6E8A-4147-A177-3AD203B41FA5}">
                      <a16:colId xmlns:a16="http://schemas.microsoft.com/office/drawing/2014/main" val="1950824745"/>
                    </a:ext>
                  </a:extLst>
                </a:gridCol>
                <a:gridCol w="2239617">
                  <a:extLst>
                    <a:ext uri="{9D8B030D-6E8A-4147-A177-3AD203B41FA5}">
                      <a16:colId xmlns:a16="http://schemas.microsoft.com/office/drawing/2014/main" val="702240230"/>
                    </a:ext>
                  </a:extLst>
                </a:gridCol>
                <a:gridCol w="2650247">
                  <a:extLst>
                    <a:ext uri="{9D8B030D-6E8A-4147-A177-3AD203B41FA5}">
                      <a16:colId xmlns:a16="http://schemas.microsoft.com/office/drawing/2014/main" val="1880352513"/>
                    </a:ext>
                  </a:extLst>
                </a:gridCol>
              </a:tblGrid>
              <a:tr h="2540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K.SHARE OF OCCASION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1082"/>
                  </a:ext>
                </a:extLst>
              </a:tr>
            </a:tbl>
          </a:graphicData>
        </a:graphic>
      </p:graphicFrame>
      <p:graphicFrame>
        <p:nvGraphicFramePr>
          <p:cNvPr id="14" name="DataTable">
            <a:extLst>
              <a:ext uri="{FF2B5EF4-FFF2-40B4-BE49-F238E27FC236}">
                <a16:creationId xmlns:a16="http://schemas.microsoft.com/office/drawing/2014/main" id="{F0DE734B-B0C3-4DFD-A3FD-28C1C2A7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845863"/>
              </p:ext>
            </p:extLst>
          </p:nvPr>
        </p:nvGraphicFramePr>
        <p:xfrm>
          <a:off x="132321" y="1468040"/>
          <a:ext cx="11873959" cy="4927710"/>
        </p:xfrm>
        <a:graphic>
          <a:graphicData uri="http://schemas.openxmlformats.org/drawingml/2006/table">
            <a:tbl>
              <a:tblPr/>
              <a:tblGrid>
                <a:gridCol w="44171">
                  <a:extLst>
                    <a:ext uri="{9D8B030D-6E8A-4147-A177-3AD203B41FA5}">
                      <a16:colId xmlns:a16="http://schemas.microsoft.com/office/drawing/2014/main" val="309470362"/>
                    </a:ext>
                  </a:extLst>
                </a:gridCol>
                <a:gridCol w="2492186">
                  <a:extLst>
                    <a:ext uri="{9D8B030D-6E8A-4147-A177-3AD203B41FA5}">
                      <a16:colId xmlns:a16="http://schemas.microsoft.com/office/drawing/2014/main" val="3760263842"/>
                    </a:ext>
                  </a:extLst>
                </a:gridCol>
                <a:gridCol w="1959744">
                  <a:extLst>
                    <a:ext uri="{9D8B030D-6E8A-4147-A177-3AD203B41FA5}">
                      <a16:colId xmlns:a16="http://schemas.microsoft.com/office/drawing/2014/main" val="1753206859"/>
                    </a:ext>
                  </a:extLst>
                </a:gridCol>
                <a:gridCol w="1430352">
                  <a:extLst>
                    <a:ext uri="{9D8B030D-6E8A-4147-A177-3AD203B41FA5}">
                      <a16:colId xmlns:a16="http://schemas.microsoft.com/office/drawing/2014/main" val="4241365871"/>
                    </a:ext>
                  </a:extLst>
                </a:gridCol>
                <a:gridCol w="1679566">
                  <a:extLst>
                    <a:ext uri="{9D8B030D-6E8A-4147-A177-3AD203B41FA5}">
                      <a16:colId xmlns:a16="http://schemas.microsoft.com/office/drawing/2014/main" val="4061532482"/>
                    </a:ext>
                  </a:extLst>
                </a:gridCol>
                <a:gridCol w="1328324">
                  <a:extLst>
                    <a:ext uri="{9D8B030D-6E8A-4147-A177-3AD203B41FA5}">
                      <a16:colId xmlns:a16="http://schemas.microsoft.com/office/drawing/2014/main" val="3358734463"/>
                    </a:ext>
                  </a:extLst>
                </a:gridCol>
                <a:gridCol w="1095151">
                  <a:extLst>
                    <a:ext uri="{9D8B030D-6E8A-4147-A177-3AD203B41FA5}">
                      <a16:colId xmlns:a16="http://schemas.microsoft.com/office/drawing/2014/main" val="3402818338"/>
                    </a:ext>
                  </a:extLst>
                </a:gridCol>
                <a:gridCol w="979872">
                  <a:extLst>
                    <a:ext uri="{9D8B030D-6E8A-4147-A177-3AD203B41FA5}">
                      <a16:colId xmlns:a16="http://schemas.microsoft.com/office/drawing/2014/main" val="582587247"/>
                    </a:ext>
                  </a:extLst>
                </a:gridCol>
                <a:gridCol w="864593">
                  <a:extLst>
                    <a:ext uri="{9D8B030D-6E8A-4147-A177-3AD203B41FA5}">
                      <a16:colId xmlns:a16="http://schemas.microsoft.com/office/drawing/2014/main" val="3745225745"/>
                    </a:ext>
                  </a:extLst>
                </a:gridCol>
              </a:tblGrid>
              <a:tr h="413040">
                <a:tc rowSpan="2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2019</a:t>
                      </a:r>
                    </a:p>
                    <a:p>
                      <a:pPr algn="ctr"/>
                      <a:r>
                        <a:rPr lang="en-US" sz="1000" dirty="0"/>
                        <a:t>Benchmark</a:t>
                      </a:r>
                      <a:endParaRPr lang="en-IN" sz="1000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2020</a:t>
                      </a:r>
                    </a:p>
                    <a:p>
                      <a:pPr algn="ctr"/>
                      <a:r>
                        <a:rPr lang="en-US" sz="1000" dirty="0"/>
                        <a:t>Target (pts change)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K. Share of </a:t>
                      </a:r>
                    </a:p>
                    <a:p>
                      <a:pPr algn="ctr"/>
                      <a:r>
                        <a:rPr lang="en-US" sz="1000" dirty="0"/>
                        <a:t> Occasion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vs 2019</a:t>
                      </a:r>
                    </a:p>
                    <a:p>
                      <a:pPr algn="ctr"/>
                      <a:r>
                        <a:rPr lang="en-US" sz="1000" dirty="0"/>
                        <a:t> Benchmark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K. Share of </a:t>
                      </a:r>
                    </a:p>
                    <a:p>
                      <a:pPr algn="ctr"/>
                      <a:r>
                        <a:rPr lang="en-US" sz="1000" dirty="0"/>
                        <a:t> Occasion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 vs 2019</a:t>
                      </a:r>
                    </a:p>
                    <a:p>
                      <a:pPr algn="ctr"/>
                      <a:r>
                        <a:rPr lang="en-US" sz="1000" dirty="0"/>
                        <a:t>  Benchmark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6657"/>
                  </a:ext>
                </a:extLst>
              </a:tr>
              <a:tr h="3009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 OCCASIONS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STRATEGIC POSTURES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35.5%(4%)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742089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EARLY MORNING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29.8%(0%)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30.0%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01643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FOR ONE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36.4%(3%)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872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FAMILY BREAKFAST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33.2%(3%)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3325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@ WORK / SCHOOL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38.9%(9%)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68191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MID MORNING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37.6%(6%)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182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40.5%(6%)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1.5%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39142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39.2%(6%)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6.2%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35.7%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3415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AFTERNOON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24.8%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29.8%(5%)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25.2%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27.3%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9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 WORK / SCHOOL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898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55134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39.5%(0%)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38.9%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1.4%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6487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ME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36.5%(0%)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-2.6%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612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WE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4411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BEDTIME / LATE NIGHT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37.5%(5%)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82712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FD6022C8-97F8-45CC-8EAA-37ED7D5975D5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117765" y="3751987"/>
            <a:ext cx="5169519" cy="468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D2ACC53-0008-44EA-A98B-A2F53D29082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477091" y="3765892"/>
            <a:ext cx="5169519" cy="468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A9EF9E3-951B-452A-8935-558E1A61402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390984" y="3737756"/>
            <a:ext cx="5169519" cy="468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4668A9-BEC1-4EAA-B097-0FB09D4BC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065848" y="3751824"/>
            <a:ext cx="5169519" cy="468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B0C2BF-238E-4046-AC3A-26B4B40E100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135318" y="3849000"/>
            <a:ext cx="4863804" cy="457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98B1AB7-C3DD-410D-8E78-CE9FCD72DE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484386" y="3939702"/>
            <a:ext cx="5169519" cy="4689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A0689C-264A-43F9-9045-47B26B6A6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105591" y="4028187"/>
            <a:ext cx="4432757" cy="1183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27CAD3-B062-4A6F-BC3F-FC78CE38D9F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574435" y="3780692"/>
            <a:ext cx="5169519" cy="46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4291A-D182-4A21-A9B9-F35B7DE40A66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563594" y="3966208"/>
            <a:ext cx="5169519" cy="4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61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783">
              <a:defRPr/>
            </a:pPr>
            <a:fld id="{A26DCA39-FE7E-4B33-9419-C9BB65BD885E}" type="slidenum">
              <a:rPr lang="en-US" sz="1000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783">
                <a:defRPr/>
              </a:pPr>
              <a:t>6</a:t>
            </a:fld>
            <a:endParaRPr lang="en-US" sz="1000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04663-7CDA-45A6-BF8B-3C57C812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6468797"/>
            <a:ext cx="3628864" cy="403271"/>
          </a:xfrm>
          <a:prstGeom prst="rect">
            <a:avLst/>
          </a:prstGeom>
        </p:spPr>
      </p:pic>
      <p:sp>
        <p:nvSpPr>
          <p:cNvPr id="22" name="SelectionSummary">
            <a:extLst>
              <a:ext uri="{FF2B5EF4-FFF2-40B4-BE49-F238E27FC236}">
                <a16:creationId xmlns:a16="http://schemas.microsoft.com/office/drawing/2014/main" id="{68B4E3CC-7268-4EF6-91D8-D82179829EDE}"/>
              </a:ext>
            </a:extLst>
          </p:cNvPr>
          <p:cNvSpPr txBox="1"/>
          <p:nvPr/>
        </p:nvSpPr>
        <p:spPr>
          <a:xfrm>
            <a:off x="0" y="469103"/>
            <a:ext cx="11929337" cy="2540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051" dirty="0"/>
              <a:t>Selection Summary : </a:t>
            </a:r>
            <a:r>
              <a:rPr lang="en-US" sz="105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Period :  2020        | Markets :      Mexico   | 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 : </a:t>
            </a:r>
            <a:endParaRPr lang="en-US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701AF-D65B-48D0-8FC4-B3B28F36D452}"/>
              </a:ext>
            </a:extLst>
          </p:cNvPr>
          <p:cNvGrpSpPr/>
          <p:nvPr/>
        </p:nvGrpSpPr>
        <p:grpSpPr>
          <a:xfrm>
            <a:off x="3564891" y="6513391"/>
            <a:ext cx="6292849" cy="338554"/>
            <a:chOff x="3625851" y="6513391"/>
            <a:chExt cx="6292849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DB9B8-0BD7-474A-9868-51BA4B569C85}"/>
                </a:ext>
              </a:extLst>
            </p:cNvPr>
            <p:cNvSpPr txBox="1"/>
            <p:nvPr/>
          </p:nvSpPr>
          <p:spPr>
            <a:xfrm>
              <a:off x="3625851" y="6513391"/>
              <a:ext cx="6292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Source: Project Landmark || Strategic Postures displayed are Business Driven || Target @ 90% CL based on Strategic Postures || LS: Insufficient sample(&lt; 150) || Low Sample    150-250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691B1FD-B30E-4284-9A1C-E2CB42150B37}"/>
                </a:ext>
              </a:extLst>
            </p:cNvPr>
            <p:cNvSpPr/>
            <p:nvPr/>
          </p:nvSpPr>
          <p:spPr>
            <a:xfrm>
              <a:off x="4959729" y="6723274"/>
              <a:ext cx="48044" cy="36381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11" name="TimePeriodHeaderTable">
            <a:extLst>
              <a:ext uri="{FF2B5EF4-FFF2-40B4-BE49-F238E27FC236}">
                <a16:creationId xmlns:a16="http://schemas.microsoft.com/office/drawing/2014/main" id="{82CC2619-5DD9-481E-80CC-31F898D9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29864"/>
              </p:ext>
            </p:extLst>
          </p:nvPr>
        </p:nvGraphicFramePr>
        <p:xfrm>
          <a:off x="4189840" y="847204"/>
          <a:ext cx="773448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4">
                  <a:extLst>
                    <a:ext uri="{9D8B030D-6E8A-4147-A177-3AD203B41FA5}">
                      <a16:colId xmlns:a16="http://schemas.microsoft.com/office/drawing/2014/main" val="2802719927"/>
                    </a:ext>
                  </a:extLst>
                </a:gridCol>
                <a:gridCol w="1168569">
                  <a:extLst>
                    <a:ext uri="{9D8B030D-6E8A-4147-A177-3AD203B41FA5}">
                      <a16:colId xmlns:a16="http://schemas.microsoft.com/office/drawing/2014/main" val="2773042899"/>
                    </a:ext>
                  </a:extLst>
                </a:gridCol>
                <a:gridCol w="1220894">
                  <a:extLst>
                    <a:ext uri="{9D8B030D-6E8A-4147-A177-3AD203B41FA5}">
                      <a16:colId xmlns:a16="http://schemas.microsoft.com/office/drawing/2014/main" val="3005496533"/>
                    </a:ext>
                  </a:extLst>
                </a:gridCol>
                <a:gridCol w="1312952">
                  <a:extLst>
                    <a:ext uri="{9D8B030D-6E8A-4147-A177-3AD203B41FA5}">
                      <a16:colId xmlns:a16="http://schemas.microsoft.com/office/drawing/2014/main" val="1787577631"/>
                    </a:ext>
                  </a:extLst>
                </a:gridCol>
                <a:gridCol w="1289356">
                  <a:extLst>
                    <a:ext uri="{9D8B030D-6E8A-4147-A177-3AD203B41FA5}">
                      <a16:colId xmlns:a16="http://schemas.microsoft.com/office/drawing/2014/main" val="1306154173"/>
                    </a:ext>
                  </a:extLst>
                </a:gridCol>
                <a:gridCol w="1071178">
                  <a:extLst>
                    <a:ext uri="{9D8B030D-6E8A-4147-A177-3AD203B41FA5}">
                      <a16:colId xmlns:a16="http://schemas.microsoft.com/office/drawing/2014/main" val="2856857987"/>
                    </a:ext>
                  </a:extLst>
                </a:gridCol>
              </a:tblGrid>
              <a:tr h="2540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1082"/>
                  </a:ext>
                </a:extLst>
              </a:tr>
            </a:tbl>
          </a:graphicData>
        </a:graphic>
      </p:graphicFrame>
      <p:graphicFrame>
        <p:nvGraphicFramePr>
          <p:cNvPr id="14" name="DataTable">
            <a:extLst>
              <a:ext uri="{FF2B5EF4-FFF2-40B4-BE49-F238E27FC236}">
                <a16:creationId xmlns:a16="http://schemas.microsoft.com/office/drawing/2014/main" id="{F0DE734B-B0C3-4DFD-A3FD-28C1C2A7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232613"/>
              </p:ext>
            </p:extLst>
          </p:nvPr>
        </p:nvGraphicFramePr>
        <p:xfrm>
          <a:off x="169981" y="1362017"/>
          <a:ext cx="11754343" cy="4927710"/>
        </p:xfrm>
        <a:graphic>
          <a:graphicData uri="http://schemas.openxmlformats.org/drawingml/2006/table">
            <a:tbl>
              <a:tblPr/>
              <a:tblGrid>
                <a:gridCol w="44914">
                  <a:extLst>
                    <a:ext uri="{9D8B030D-6E8A-4147-A177-3AD203B41FA5}">
                      <a16:colId xmlns:a16="http://schemas.microsoft.com/office/drawing/2014/main" val="309470362"/>
                    </a:ext>
                  </a:extLst>
                </a:gridCol>
                <a:gridCol w="2483647">
                  <a:extLst>
                    <a:ext uri="{9D8B030D-6E8A-4147-A177-3AD203B41FA5}">
                      <a16:colId xmlns:a16="http://schemas.microsoft.com/office/drawing/2014/main" val="3760263842"/>
                    </a:ext>
                  </a:extLst>
                </a:gridCol>
                <a:gridCol w="1581910">
                  <a:extLst>
                    <a:ext uri="{9D8B030D-6E8A-4147-A177-3AD203B41FA5}">
                      <a16:colId xmlns:a16="http://schemas.microsoft.com/office/drawing/2014/main" val="1753206859"/>
                    </a:ext>
                  </a:extLst>
                </a:gridCol>
                <a:gridCol w="1497496">
                  <a:extLst>
                    <a:ext uri="{9D8B030D-6E8A-4147-A177-3AD203B41FA5}">
                      <a16:colId xmlns:a16="http://schemas.microsoft.com/office/drawing/2014/main" val="4241365871"/>
                    </a:ext>
                  </a:extLst>
                </a:gridCol>
                <a:gridCol w="1285461">
                  <a:extLst>
                    <a:ext uri="{9D8B030D-6E8A-4147-A177-3AD203B41FA5}">
                      <a16:colId xmlns:a16="http://schemas.microsoft.com/office/drawing/2014/main" val="4061532482"/>
                    </a:ext>
                  </a:extLst>
                </a:gridCol>
                <a:gridCol w="1166191">
                  <a:extLst>
                    <a:ext uri="{9D8B030D-6E8A-4147-A177-3AD203B41FA5}">
                      <a16:colId xmlns:a16="http://schemas.microsoft.com/office/drawing/2014/main" val="3358734463"/>
                    </a:ext>
                  </a:extLst>
                </a:gridCol>
                <a:gridCol w="1338470">
                  <a:extLst>
                    <a:ext uri="{9D8B030D-6E8A-4147-A177-3AD203B41FA5}">
                      <a16:colId xmlns:a16="http://schemas.microsoft.com/office/drawing/2014/main" val="3745225745"/>
                    </a:ext>
                  </a:extLst>
                </a:gridCol>
                <a:gridCol w="1229464">
                  <a:extLst>
                    <a:ext uri="{9D8B030D-6E8A-4147-A177-3AD203B41FA5}">
                      <a16:colId xmlns:a16="http://schemas.microsoft.com/office/drawing/2014/main" val="3399650800"/>
                    </a:ext>
                  </a:extLst>
                </a:gridCol>
                <a:gridCol w="1126790">
                  <a:extLst>
                    <a:ext uri="{9D8B030D-6E8A-4147-A177-3AD203B41FA5}">
                      <a16:colId xmlns:a16="http://schemas.microsoft.com/office/drawing/2014/main" val="3988802618"/>
                    </a:ext>
                  </a:extLst>
                </a:gridCol>
              </a:tblGrid>
              <a:tr h="413040">
                <a:tc rowSpan="2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6657"/>
                  </a:ext>
                </a:extLst>
              </a:tr>
              <a:tr h="3009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 OCCASIONS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STRATEGIC POSTURES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742089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EARLY MORNING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01643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FOR ONE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872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FAMILY BREAKFAST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3325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@ WORK / SCHOOL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68191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MID MORNING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182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39142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3415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AFTERNOON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9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 WORK / SCHOOL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898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55134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6487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ME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612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WE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4411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BEDTIME / LATE NIGHT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82712"/>
                  </a:ext>
                </a:extLst>
              </a:tr>
            </a:tbl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BA4668A9-BEC1-4EAA-B097-0FB09D4BC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543" y="3601246"/>
            <a:ext cx="5471845" cy="457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B0C2BF-238E-4046-AC3A-26B4B40E100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108817" y="3809243"/>
            <a:ext cx="4863804" cy="45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A0689C-264A-43F9-9045-47B26B6A6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105591" y="4028187"/>
            <a:ext cx="4432757" cy="1183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B9FFD13-9860-44FD-82A8-7BAA93E45F3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089478" y="3552038"/>
            <a:ext cx="5485868" cy="4572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BFF519-82AE-43C7-BA41-1D7875CF950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18695" y="3545144"/>
            <a:ext cx="5485868" cy="4572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D9481EE-730B-4A7D-97BE-30640ECB7B8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837144" y="3567278"/>
            <a:ext cx="5485868" cy="4572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342F3E-6C01-4A0C-BE05-115A2F59912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044877" y="3574898"/>
            <a:ext cx="5485868" cy="457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2EA9D6B-AC81-4C49-9219-076D4752F4B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204251" y="3574898"/>
            <a:ext cx="5485868" cy="45720"/>
          </a:xfrm>
          <a:prstGeom prst="rect">
            <a:avLst/>
          </a:prstGeom>
        </p:spPr>
      </p:pic>
      <p:sp>
        <p:nvSpPr>
          <p:cNvPr id="52" name="Title 4">
            <a:extLst>
              <a:ext uri="{FF2B5EF4-FFF2-40B4-BE49-F238E27FC236}">
                <a16:creationId xmlns:a16="http://schemas.microsoft.com/office/drawing/2014/main" id="{5563C033-5D99-4D7E-A7CC-3B2AD4D7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45" y="20123"/>
            <a:ext cx="11842590" cy="41195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DB1348"/>
                </a:solidFill>
                <a:latin typeface="Franklin Gothic Medium" panose="020B0603020102020204" pitchFamily="34" charset="0"/>
              </a:rPr>
              <a:t>KELLOGG’S SAMPLE SIZE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2481BBF-C234-42CF-86C4-6C1D54D5D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0645" y="773626"/>
            <a:ext cx="42676" cy="54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79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783">
              <a:defRPr/>
            </a:pPr>
            <a:fld id="{A26DCA39-FE7E-4B33-9419-C9BB65BD885E}" type="slidenum">
              <a:rPr lang="en-US" sz="1000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783">
                <a:defRPr/>
              </a:pPr>
              <a:t>7</a:t>
            </a:fld>
            <a:endParaRPr lang="en-US" sz="1000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04663-7CDA-45A6-BF8B-3C57C812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6468797"/>
            <a:ext cx="3628864" cy="403271"/>
          </a:xfrm>
          <a:prstGeom prst="rect">
            <a:avLst/>
          </a:prstGeom>
        </p:spPr>
      </p:pic>
      <p:sp>
        <p:nvSpPr>
          <p:cNvPr id="22" name="SelectionSummary">
            <a:extLst>
              <a:ext uri="{FF2B5EF4-FFF2-40B4-BE49-F238E27FC236}">
                <a16:creationId xmlns:a16="http://schemas.microsoft.com/office/drawing/2014/main" id="{68B4E3CC-7268-4EF6-91D8-D82179829EDE}"/>
              </a:ext>
            </a:extLst>
          </p:cNvPr>
          <p:cNvSpPr txBox="1"/>
          <p:nvPr/>
        </p:nvSpPr>
        <p:spPr>
          <a:xfrm>
            <a:off x="0" y="469103"/>
            <a:ext cx="11929337" cy="2540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051" dirty="0"/>
              <a:t>Selection Summary : </a:t>
            </a:r>
            <a:r>
              <a:rPr lang="en-US" sz="105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Period :  2020        | Markets :      Mexico   | 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 : </a:t>
            </a:r>
            <a:endParaRPr lang="en-US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701AF-D65B-48D0-8FC4-B3B28F36D452}"/>
              </a:ext>
            </a:extLst>
          </p:cNvPr>
          <p:cNvGrpSpPr/>
          <p:nvPr/>
        </p:nvGrpSpPr>
        <p:grpSpPr>
          <a:xfrm>
            <a:off x="3564891" y="6513391"/>
            <a:ext cx="6292849" cy="338554"/>
            <a:chOff x="3625851" y="6513391"/>
            <a:chExt cx="6292849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DB9B8-0BD7-474A-9868-51BA4B569C85}"/>
                </a:ext>
              </a:extLst>
            </p:cNvPr>
            <p:cNvSpPr txBox="1"/>
            <p:nvPr/>
          </p:nvSpPr>
          <p:spPr>
            <a:xfrm>
              <a:off x="3625851" y="6513391"/>
              <a:ext cx="6292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Source: Project Landmark || Strategic Postures displayed are Business Driven || Target @ 90% CL based on Strategic Postures || LS: Insufficient sample(&lt; 150) || Low Sample    150-250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691B1FD-B30E-4284-9A1C-E2CB42150B37}"/>
                </a:ext>
              </a:extLst>
            </p:cNvPr>
            <p:cNvSpPr/>
            <p:nvPr/>
          </p:nvSpPr>
          <p:spPr>
            <a:xfrm>
              <a:off x="4953379" y="6723274"/>
              <a:ext cx="48044" cy="36381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11" name="TimePeriodHeaderTable">
            <a:extLst>
              <a:ext uri="{FF2B5EF4-FFF2-40B4-BE49-F238E27FC236}">
                <a16:creationId xmlns:a16="http://schemas.microsoft.com/office/drawing/2014/main" id="{82CC2619-5DD9-481E-80CC-31F898D9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5652"/>
              </p:ext>
            </p:extLst>
          </p:nvPr>
        </p:nvGraphicFramePr>
        <p:xfrm>
          <a:off x="4189840" y="847204"/>
          <a:ext cx="773448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4">
                  <a:extLst>
                    <a:ext uri="{9D8B030D-6E8A-4147-A177-3AD203B41FA5}">
                      <a16:colId xmlns:a16="http://schemas.microsoft.com/office/drawing/2014/main" val="2802719927"/>
                    </a:ext>
                  </a:extLst>
                </a:gridCol>
                <a:gridCol w="1168569">
                  <a:extLst>
                    <a:ext uri="{9D8B030D-6E8A-4147-A177-3AD203B41FA5}">
                      <a16:colId xmlns:a16="http://schemas.microsoft.com/office/drawing/2014/main" val="2773042899"/>
                    </a:ext>
                  </a:extLst>
                </a:gridCol>
                <a:gridCol w="1220894">
                  <a:extLst>
                    <a:ext uri="{9D8B030D-6E8A-4147-A177-3AD203B41FA5}">
                      <a16:colId xmlns:a16="http://schemas.microsoft.com/office/drawing/2014/main" val="3005496533"/>
                    </a:ext>
                  </a:extLst>
                </a:gridCol>
                <a:gridCol w="1312952">
                  <a:extLst>
                    <a:ext uri="{9D8B030D-6E8A-4147-A177-3AD203B41FA5}">
                      <a16:colId xmlns:a16="http://schemas.microsoft.com/office/drawing/2014/main" val="1787577631"/>
                    </a:ext>
                  </a:extLst>
                </a:gridCol>
                <a:gridCol w="1289356">
                  <a:extLst>
                    <a:ext uri="{9D8B030D-6E8A-4147-A177-3AD203B41FA5}">
                      <a16:colId xmlns:a16="http://schemas.microsoft.com/office/drawing/2014/main" val="1306154173"/>
                    </a:ext>
                  </a:extLst>
                </a:gridCol>
                <a:gridCol w="1071178">
                  <a:extLst>
                    <a:ext uri="{9D8B030D-6E8A-4147-A177-3AD203B41FA5}">
                      <a16:colId xmlns:a16="http://schemas.microsoft.com/office/drawing/2014/main" val="2856857987"/>
                    </a:ext>
                  </a:extLst>
                </a:gridCol>
              </a:tblGrid>
              <a:tr h="2540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1082"/>
                  </a:ext>
                </a:extLst>
              </a:tr>
            </a:tbl>
          </a:graphicData>
        </a:graphic>
      </p:graphicFrame>
      <p:graphicFrame>
        <p:nvGraphicFramePr>
          <p:cNvPr id="14" name="DataTable">
            <a:extLst>
              <a:ext uri="{FF2B5EF4-FFF2-40B4-BE49-F238E27FC236}">
                <a16:creationId xmlns:a16="http://schemas.microsoft.com/office/drawing/2014/main" id="{F0DE734B-B0C3-4DFD-A3FD-28C1C2A7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66007"/>
              </p:ext>
            </p:extLst>
          </p:nvPr>
        </p:nvGraphicFramePr>
        <p:xfrm>
          <a:off x="169981" y="1362017"/>
          <a:ext cx="11754343" cy="4927710"/>
        </p:xfrm>
        <a:graphic>
          <a:graphicData uri="http://schemas.openxmlformats.org/drawingml/2006/table">
            <a:tbl>
              <a:tblPr/>
              <a:tblGrid>
                <a:gridCol w="44914">
                  <a:extLst>
                    <a:ext uri="{9D8B030D-6E8A-4147-A177-3AD203B41FA5}">
                      <a16:colId xmlns:a16="http://schemas.microsoft.com/office/drawing/2014/main" val="309470362"/>
                    </a:ext>
                  </a:extLst>
                </a:gridCol>
                <a:gridCol w="2483647">
                  <a:extLst>
                    <a:ext uri="{9D8B030D-6E8A-4147-A177-3AD203B41FA5}">
                      <a16:colId xmlns:a16="http://schemas.microsoft.com/office/drawing/2014/main" val="3760263842"/>
                    </a:ext>
                  </a:extLst>
                </a:gridCol>
                <a:gridCol w="1581910">
                  <a:extLst>
                    <a:ext uri="{9D8B030D-6E8A-4147-A177-3AD203B41FA5}">
                      <a16:colId xmlns:a16="http://schemas.microsoft.com/office/drawing/2014/main" val="1753206859"/>
                    </a:ext>
                  </a:extLst>
                </a:gridCol>
                <a:gridCol w="1497496">
                  <a:extLst>
                    <a:ext uri="{9D8B030D-6E8A-4147-A177-3AD203B41FA5}">
                      <a16:colId xmlns:a16="http://schemas.microsoft.com/office/drawing/2014/main" val="4241365871"/>
                    </a:ext>
                  </a:extLst>
                </a:gridCol>
                <a:gridCol w="1285461">
                  <a:extLst>
                    <a:ext uri="{9D8B030D-6E8A-4147-A177-3AD203B41FA5}">
                      <a16:colId xmlns:a16="http://schemas.microsoft.com/office/drawing/2014/main" val="4061532482"/>
                    </a:ext>
                  </a:extLst>
                </a:gridCol>
                <a:gridCol w="1166191">
                  <a:extLst>
                    <a:ext uri="{9D8B030D-6E8A-4147-A177-3AD203B41FA5}">
                      <a16:colId xmlns:a16="http://schemas.microsoft.com/office/drawing/2014/main" val="3358734463"/>
                    </a:ext>
                  </a:extLst>
                </a:gridCol>
                <a:gridCol w="1338470">
                  <a:extLst>
                    <a:ext uri="{9D8B030D-6E8A-4147-A177-3AD203B41FA5}">
                      <a16:colId xmlns:a16="http://schemas.microsoft.com/office/drawing/2014/main" val="3745225745"/>
                    </a:ext>
                  </a:extLst>
                </a:gridCol>
                <a:gridCol w="1229464">
                  <a:extLst>
                    <a:ext uri="{9D8B030D-6E8A-4147-A177-3AD203B41FA5}">
                      <a16:colId xmlns:a16="http://schemas.microsoft.com/office/drawing/2014/main" val="3399650800"/>
                    </a:ext>
                  </a:extLst>
                </a:gridCol>
                <a:gridCol w="1126790">
                  <a:extLst>
                    <a:ext uri="{9D8B030D-6E8A-4147-A177-3AD203B41FA5}">
                      <a16:colId xmlns:a16="http://schemas.microsoft.com/office/drawing/2014/main" val="3988802618"/>
                    </a:ext>
                  </a:extLst>
                </a:gridCol>
              </a:tblGrid>
              <a:tr h="413040">
                <a:tc rowSpan="2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6657"/>
                  </a:ext>
                </a:extLst>
              </a:tr>
              <a:tr h="3009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 OCCASIONS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STRATEGIC POSTURES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742089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EARLY MORNING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01643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FOR ONE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872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FAMILY BREAKFAST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3325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@ WORK / SCHOOL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68191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MID MORNING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182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39142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3415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AFTERNOON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9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 WORK / SCHOOL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898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55134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6487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ME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612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WE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4411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BEDTIME / LATE NIGHT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82712"/>
                  </a:ext>
                </a:extLst>
              </a:tr>
            </a:tbl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BA4668A9-BEC1-4EAA-B097-0FB09D4BC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543" y="3601246"/>
            <a:ext cx="5471845" cy="457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B0C2BF-238E-4046-AC3A-26B4B40E100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69059" y="3809243"/>
            <a:ext cx="4863804" cy="45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A0689C-264A-43F9-9045-47B26B6A6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105591" y="4028187"/>
            <a:ext cx="4432757" cy="1183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B9FFD13-9860-44FD-82A8-7BAA93E45F3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089478" y="3552038"/>
            <a:ext cx="5485868" cy="4572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BFF519-82AE-43C7-BA41-1D7875CF950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18695" y="3545144"/>
            <a:ext cx="5485868" cy="4572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D9481EE-730B-4A7D-97BE-30640ECB7B8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837144" y="3567278"/>
            <a:ext cx="5485868" cy="4572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342F3E-6C01-4A0C-BE05-115A2F59912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044877" y="3574898"/>
            <a:ext cx="5485868" cy="457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2EA9D6B-AC81-4C49-9219-076D4752F4B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204251" y="3574898"/>
            <a:ext cx="5485868" cy="45720"/>
          </a:xfrm>
          <a:prstGeom prst="rect">
            <a:avLst/>
          </a:prstGeom>
        </p:spPr>
      </p:pic>
      <p:sp>
        <p:nvSpPr>
          <p:cNvPr id="52" name="Title 4">
            <a:extLst>
              <a:ext uri="{FF2B5EF4-FFF2-40B4-BE49-F238E27FC236}">
                <a16:creationId xmlns:a16="http://schemas.microsoft.com/office/drawing/2014/main" id="{5563C033-5D99-4D7E-A7CC-3B2AD4D7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45" y="20123"/>
            <a:ext cx="11842590" cy="41195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DB1348"/>
                </a:solidFill>
                <a:latin typeface="Franklin Gothic Medium" panose="020B0603020102020204" pitchFamily="34" charset="0"/>
              </a:rPr>
              <a:t>CATEGORY SAMPLE SIZE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2481BBF-C234-42CF-86C4-6C1D54D5D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0645" y="773626"/>
            <a:ext cx="42676" cy="54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26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783">
              <a:defRPr/>
            </a:pPr>
            <a:fld id="{A26DCA39-FE7E-4B33-9419-C9BB65BD885E}" type="slidenum">
              <a:rPr lang="en-US" sz="1000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783">
                <a:defRPr/>
              </a:pPr>
              <a:t>8</a:t>
            </a:fld>
            <a:endParaRPr lang="en-US" sz="1000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04663-7CDA-45A6-BF8B-3C57C812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6468797"/>
            <a:ext cx="3628864" cy="403271"/>
          </a:xfrm>
          <a:prstGeom prst="rect">
            <a:avLst/>
          </a:prstGeom>
        </p:spPr>
      </p:pic>
      <p:sp>
        <p:nvSpPr>
          <p:cNvPr id="22" name="SelectionSummary">
            <a:extLst>
              <a:ext uri="{FF2B5EF4-FFF2-40B4-BE49-F238E27FC236}">
                <a16:creationId xmlns:a16="http://schemas.microsoft.com/office/drawing/2014/main" id="{68B4E3CC-7268-4EF6-91D8-D82179829EDE}"/>
              </a:ext>
            </a:extLst>
          </p:cNvPr>
          <p:cNvSpPr txBox="1"/>
          <p:nvPr/>
        </p:nvSpPr>
        <p:spPr>
          <a:xfrm>
            <a:off x="0" y="469103"/>
            <a:ext cx="11929337" cy="2540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051" dirty="0"/>
              <a:t>Selection Summary : </a:t>
            </a:r>
            <a:r>
              <a:rPr lang="en-US" sz="105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Period :  2020 |Markets : Mexico |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 : </a:t>
            </a:r>
            <a:endParaRPr lang="en-US" sz="1100" dirty="0"/>
          </a:p>
        </p:txBody>
      </p:sp>
      <p:sp>
        <p:nvSpPr>
          <p:cNvPr id="33" name="Title 4">
            <a:extLst>
              <a:ext uri="{FF2B5EF4-FFF2-40B4-BE49-F238E27FC236}">
                <a16:creationId xmlns:a16="http://schemas.microsoft.com/office/drawing/2014/main" id="{F5891114-9CB8-466D-970D-C908FDA7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45" y="20123"/>
            <a:ext cx="11842590" cy="41195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DB1348"/>
                </a:solidFill>
                <a:latin typeface="Franklin Gothic Medium" panose="020B0603020102020204" pitchFamily="34" charset="0"/>
              </a:rPr>
              <a:t>Kellogg’s Share of Occasion Performance Dashboard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701AF-D65B-48D0-8FC4-B3B28F36D452}"/>
              </a:ext>
            </a:extLst>
          </p:cNvPr>
          <p:cNvGrpSpPr/>
          <p:nvPr/>
        </p:nvGrpSpPr>
        <p:grpSpPr>
          <a:xfrm>
            <a:off x="3564891" y="6513391"/>
            <a:ext cx="6292849" cy="338554"/>
            <a:chOff x="3625851" y="6513391"/>
            <a:chExt cx="6292849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DB9B8-0BD7-474A-9868-51BA4B569C85}"/>
                </a:ext>
              </a:extLst>
            </p:cNvPr>
            <p:cNvSpPr txBox="1"/>
            <p:nvPr/>
          </p:nvSpPr>
          <p:spPr>
            <a:xfrm>
              <a:off x="3625851" y="6513391"/>
              <a:ext cx="6292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Source: Project Landmark || Strategic Postures displayed are Business Driven || Target @ 90% CL based on Strategic Postures || LS: Insufficient sample(&lt; 150) || Low Sample    150 -250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691B1FD-B30E-4284-9A1C-E2CB42150B37}"/>
                </a:ext>
              </a:extLst>
            </p:cNvPr>
            <p:cNvSpPr/>
            <p:nvPr/>
          </p:nvSpPr>
          <p:spPr>
            <a:xfrm>
              <a:off x="4966079" y="6723274"/>
              <a:ext cx="48044" cy="36381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5009934-F95A-4C20-A1C1-71D34A6B4A4B}"/>
              </a:ext>
            </a:extLst>
          </p:cNvPr>
          <p:cNvGraphicFramePr>
            <a:graphicFrameLocks noGrp="1"/>
          </p:cNvGraphicFramePr>
          <p:nvPr/>
        </p:nvGraphicFramePr>
        <p:xfrm>
          <a:off x="5433093" y="846901"/>
          <a:ext cx="654668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524">
                  <a:extLst>
                    <a:ext uri="{9D8B030D-6E8A-4147-A177-3AD203B41FA5}">
                      <a16:colId xmlns:a16="http://schemas.microsoft.com/office/drawing/2014/main" val="983349565"/>
                    </a:ext>
                  </a:extLst>
                </a:gridCol>
                <a:gridCol w="1297524">
                  <a:extLst>
                    <a:ext uri="{9D8B030D-6E8A-4147-A177-3AD203B41FA5}">
                      <a16:colId xmlns:a16="http://schemas.microsoft.com/office/drawing/2014/main" val="4134036118"/>
                    </a:ext>
                  </a:extLst>
                </a:gridCol>
                <a:gridCol w="1392906">
                  <a:extLst>
                    <a:ext uri="{9D8B030D-6E8A-4147-A177-3AD203B41FA5}">
                      <a16:colId xmlns:a16="http://schemas.microsoft.com/office/drawing/2014/main" val="2068797701"/>
                    </a:ext>
                  </a:extLst>
                </a:gridCol>
                <a:gridCol w="1342017">
                  <a:extLst>
                    <a:ext uri="{9D8B030D-6E8A-4147-A177-3AD203B41FA5}">
                      <a16:colId xmlns:a16="http://schemas.microsoft.com/office/drawing/2014/main" val="470120981"/>
                    </a:ext>
                  </a:extLst>
                </a:gridCol>
                <a:gridCol w="1216714">
                  <a:extLst>
                    <a:ext uri="{9D8B030D-6E8A-4147-A177-3AD203B41FA5}">
                      <a16:colId xmlns:a16="http://schemas.microsoft.com/office/drawing/2014/main" val="1767098281"/>
                    </a:ext>
                  </a:extLst>
                </a:gridCol>
              </a:tblGrid>
              <a:tr h="179446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Significantly Better</a:t>
                      </a:r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Directionally Better</a:t>
                      </a:r>
                    </a:p>
                  </a:txBody>
                  <a:tcPr>
                    <a:lnL w="571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Directionally Worse</a:t>
                      </a:r>
                    </a:p>
                  </a:txBody>
                  <a:tcPr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Significant Worse</a:t>
                      </a:r>
                    </a:p>
                  </a:txBody>
                  <a:tcPr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Flat</a:t>
                      </a:r>
                    </a:p>
                  </a:txBody>
                  <a:tcPr>
                    <a:lnL w="571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833857"/>
                  </a:ext>
                </a:extLst>
              </a:tr>
            </a:tbl>
          </a:graphicData>
        </a:graphic>
      </p:graphicFrame>
      <p:graphicFrame>
        <p:nvGraphicFramePr>
          <p:cNvPr id="11" name="TimePeriodHeaderTable">
            <a:extLst>
              <a:ext uri="{FF2B5EF4-FFF2-40B4-BE49-F238E27FC236}">
                <a16:creationId xmlns:a16="http://schemas.microsoft.com/office/drawing/2014/main" id="{82CC2619-5DD9-481E-80CC-31F898D9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16767"/>
              </p:ext>
            </p:extLst>
          </p:nvPr>
        </p:nvGraphicFramePr>
        <p:xfrm>
          <a:off x="3349545" y="1168856"/>
          <a:ext cx="8378445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788">
                  <a:extLst>
                    <a:ext uri="{9D8B030D-6E8A-4147-A177-3AD203B41FA5}">
                      <a16:colId xmlns:a16="http://schemas.microsoft.com/office/drawing/2014/main" val="1950824745"/>
                    </a:ext>
                  </a:extLst>
                </a:gridCol>
                <a:gridCol w="1878576">
                  <a:extLst>
                    <a:ext uri="{9D8B030D-6E8A-4147-A177-3AD203B41FA5}">
                      <a16:colId xmlns:a16="http://schemas.microsoft.com/office/drawing/2014/main" val="702240230"/>
                    </a:ext>
                  </a:extLst>
                </a:gridCol>
                <a:gridCol w="1991290">
                  <a:extLst>
                    <a:ext uri="{9D8B030D-6E8A-4147-A177-3AD203B41FA5}">
                      <a16:colId xmlns:a16="http://schemas.microsoft.com/office/drawing/2014/main" val="2856857987"/>
                    </a:ext>
                  </a:extLst>
                </a:gridCol>
                <a:gridCol w="1859791">
                  <a:extLst>
                    <a:ext uri="{9D8B030D-6E8A-4147-A177-3AD203B41FA5}">
                      <a16:colId xmlns:a16="http://schemas.microsoft.com/office/drawing/2014/main" val="1880352513"/>
                    </a:ext>
                  </a:extLst>
                </a:gridCol>
              </a:tblGrid>
              <a:tr h="2540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K.SHARE OF OCCASION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Q3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1082"/>
                  </a:ext>
                </a:extLst>
              </a:tr>
            </a:tbl>
          </a:graphicData>
        </a:graphic>
      </p:graphicFrame>
      <p:graphicFrame>
        <p:nvGraphicFramePr>
          <p:cNvPr id="14" name="DataTable">
            <a:extLst>
              <a:ext uri="{FF2B5EF4-FFF2-40B4-BE49-F238E27FC236}">
                <a16:creationId xmlns:a16="http://schemas.microsoft.com/office/drawing/2014/main" id="{F0DE734B-B0C3-4DFD-A3FD-28C1C2A7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291352"/>
              </p:ext>
            </p:extLst>
          </p:nvPr>
        </p:nvGraphicFramePr>
        <p:xfrm>
          <a:off x="105816" y="1468040"/>
          <a:ext cx="11873962" cy="5002017"/>
        </p:xfrm>
        <a:graphic>
          <a:graphicData uri="http://schemas.openxmlformats.org/drawingml/2006/table">
            <a:tbl>
              <a:tblPr/>
              <a:tblGrid>
                <a:gridCol w="37837">
                  <a:extLst>
                    <a:ext uri="{9D8B030D-6E8A-4147-A177-3AD203B41FA5}">
                      <a16:colId xmlns:a16="http://schemas.microsoft.com/office/drawing/2014/main" val="309470362"/>
                    </a:ext>
                  </a:extLst>
                </a:gridCol>
                <a:gridCol w="2292407">
                  <a:extLst>
                    <a:ext uri="{9D8B030D-6E8A-4147-A177-3AD203B41FA5}">
                      <a16:colId xmlns:a16="http://schemas.microsoft.com/office/drawing/2014/main" val="3760263842"/>
                    </a:ext>
                  </a:extLst>
                </a:gridCol>
                <a:gridCol w="1420323">
                  <a:extLst>
                    <a:ext uri="{9D8B030D-6E8A-4147-A177-3AD203B41FA5}">
                      <a16:colId xmlns:a16="http://schemas.microsoft.com/office/drawing/2014/main" val="1753206859"/>
                    </a:ext>
                  </a:extLst>
                </a:gridCol>
                <a:gridCol w="1326052">
                  <a:extLst>
                    <a:ext uri="{9D8B030D-6E8A-4147-A177-3AD203B41FA5}">
                      <a16:colId xmlns:a16="http://schemas.microsoft.com/office/drawing/2014/main" val="4241365871"/>
                    </a:ext>
                  </a:extLst>
                </a:gridCol>
                <a:gridCol w="1258122">
                  <a:extLst>
                    <a:ext uri="{9D8B030D-6E8A-4147-A177-3AD203B41FA5}">
                      <a16:colId xmlns:a16="http://schemas.microsoft.com/office/drawing/2014/main" val="4061532482"/>
                    </a:ext>
                  </a:extLst>
                </a:gridCol>
                <a:gridCol w="1078020">
                  <a:extLst>
                    <a:ext uri="{9D8B030D-6E8A-4147-A177-3AD203B41FA5}">
                      <a16:colId xmlns:a16="http://schemas.microsoft.com/office/drawing/2014/main" val="3358734463"/>
                    </a:ext>
                  </a:extLst>
                </a:gridCol>
                <a:gridCol w="914433">
                  <a:extLst>
                    <a:ext uri="{9D8B030D-6E8A-4147-A177-3AD203B41FA5}">
                      <a16:colId xmlns:a16="http://schemas.microsoft.com/office/drawing/2014/main" val="3402818338"/>
                    </a:ext>
                  </a:extLst>
                </a:gridCol>
                <a:gridCol w="894653">
                  <a:extLst>
                    <a:ext uri="{9D8B030D-6E8A-4147-A177-3AD203B41FA5}">
                      <a16:colId xmlns:a16="http://schemas.microsoft.com/office/drawing/2014/main" val="582587247"/>
                    </a:ext>
                  </a:extLst>
                </a:gridCol>
                <a:gridCol w="968645">
                  <a:extLst>
                    <a:ext uri="{9D8B030D-6E8A-4147-A177-3AD203B41FA5}">
                      <a16:colId xmlns:a16="http://schemas.microsoft.com/office/drawing/2014/main" val="3745225745"/>
                    </a:ext>
                  </a:extLst>
                </a:gridCol>
                <a:gridCol w="809628">
                  <a:extLst>
                    <a:ext uri="{9D8B030D-6E8A-4147-A177-3AD203B41FA5}">
                      <a16:colId xmlns:a16="http://schemas.microsoft.com/office/drawing/2014/main" val="3399650800"/>
                    </a:ext>
                  </a:extLst>
                </a:gridCol>
                <a:gridCol w="873842">
                  <a:extLst>
                    <a:ext uri="{9D8B030D-6E8A-4147-A177-3AD203B41FA5}">
                      <a16:colId xmlns:a16="http://schemas.microsoft.com/office/drawing/2014/main" val="3988802618"/>
                    </a:ext>
                  </a:extLst>
                </a:gridCol>
              </a:tblGrid>
              <a:tr h="413040">
                <a:tc rowSpan="2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2019</a:t>
                      </a:r>
                    </a:p>
                    <a:p>
                      <a:pPr algn="ctr"/>
                      <a:r>
                        <a:rPr lang="en-US" sz="1000" dirty="0"/>
                        <a:t>Benchmark</a:t>
                      </a:r>
                      <a:endParaRPr lang="en-IN" sz="1000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2020</a:t>
                      </a:r>
                    </a:p>
                    <a:p>
                      <a:pPr algn="ctr"/>
                      <a:r>
                        <a:rPr lang="en-US" sz="1000" dirty="0"/>
                        <a:t>Target (pts change)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K. Share of </a:t>
                      </a:r>
                    </a:p>
                    <a:p>
                      <a:pPr algn="ctr"/>
                      <a:r>
                        <a:rPr lang="en-US" sz="1000" dirty="0"/>
                        <a:t> Occasion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vs 2019</a:t>
                      </a:r>
                    </a:p>
                    <a:p>
                      <a:pPr algn="ctr"/>
                      <a:r>
                        <a:rPr lang="en-US" sz="1000" dirty="0"/>
                        <a:t> Benchmark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K. Share of </a:t>
                      </a:r>
                    </a:p>
                    <a:p>
                      <a:pPr algn="ctr"/>
                      <a:r>
                        <a:rPr lang="en-US" sz="1000" dirty="0"/>
                        <a:t> Occasion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 vs 2019</a:t>
                      </a:r>
                    </a:p>
                    <a:p>
                      <a:pPr algn="ctr"/>
                      <a:r>
                        <a:rPr lang="en-US" sz="1000" dirty="0"/>
                        <a:t>  Benchmark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K. Share of </a:t>
                      </a:r>
                    </a:p>
                    <a:p>
                      <a:pPr algn="ctr"/>
                      <a:r>
                        <a:rPr lang="en-US" sz="1000" dirty="0"/>
                        <a:t> Occasion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vs 2019</a:t>
                      </a:r>
                    </a:p>
                    <a:p>
                      <a:pPr algn="ctr"/>
                      <a:r>
                        <a:rPr lang="en-US" sz="1000" dirty="0"/>
                        <a:t> Benchmark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6657"/>
                  </a:ext>
                </a:extLst>
              </a:tr>
              <a:tr h="3009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 OCCASIONS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STRATEGIC POSTURES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35.5%(4%)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742089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EARLY MORNING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29.8%(0%)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30.0%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01643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FOR ONE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36.4%(3%)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35.1%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1.6%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872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FAMILY BREAKFAST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33.2%(3%)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3325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@ WORK / SCHOOL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38.9%(9%)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68191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MID MORNING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37.6%(6%)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182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40.5%(6%)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1.5%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39142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39.2%(6%)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6.2%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35.7%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35.5%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3415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AFTERNOON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24.8%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29.8%(5%)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25.2%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27.3%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30.5%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5.7%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9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 WORK / SCHOOL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898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55134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39.5%(0%)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38.9%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1.4%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1.2%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6487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ME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36.5%(0%)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-2.6%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35.5%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-1.1%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612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WE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4411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BEDTIME / LATE NIGHT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37.5%(5%)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8271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1371F599-C2DC-42A4-A46D-B52878B4C49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837248" y="3754172"/>
            <a:ext cx="5169519" cy="468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D6022C8-97F8-45CC-8EAA-37ED7D5975D5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086583" y="3899823"/>
            <a:ext cx="4873519" cy="4689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D2ACC53-0008-44EA-A98B-A2F53D29082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827729" y="3765892"/>
            <a:ext cx="5169519" cy="468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ED2F1EA-C859-4859-86F1-7435BC92F24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718889" y="3779960"/>
            <a:ext cx="5169519" cy="468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A9EF9E3-951B-452A-8935-558E1A61402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390984" y="3737756"/>
            <a:ext cx="5169519" cy="468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4668A9-BEC1-4EAA-B097-0FB09D4BC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297223" y="3751824"/>
            <a:ext cx="5169519" cy="468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B0C2BF-238E-4046-AC3A-26B4B40E100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413615" y="3848998"/>
            <a:ext cx="4863804" cy="457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98B1AB7-C3DD-410D-8E78-CE9FCD72DE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593480" y="3906572"/>
            <a:ext cx="5169519" cy="4689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CBBC73D-D8F1-4634-AC53-D054BF4926A0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6838727" y="3839996"/>
            <a:ext cx="4967999" cy="4571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2EC99D9-E6CF-49B2-B6E3-E4AD2E93144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8626354" y="3815717"/>
            <a:ext cx="4958503" cy="45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A0689C-264A-43F9-9045-47B26B6A6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105591" y="4028187"/>
            <a:ext cx="4432757" cy="11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00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697426" y="6506437"/>
            <a:ext cx="444063" cy="275677"/>
          </a:xfrm>
        </p:spPr>
        <p:txBody>
          <a:bodyPr/>
          <a:lstStyle/>
          <a:p>
            <a:pPr defTabSz="685783">
              <a:defRPr/>
            </a:pPr>
            <a:fld id="{A26DCA39-FE7E-4B33-9419-C9BB65BD885E}" type="slidenum">
              <a:rPr lang="en-US" sz="1000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783">
                <a:defRPr/>
              </a:pPr>
              <a:t>9</a:t>
            </a:fld>
            <a:endParaRPr lang="en-US" sz="1000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04663-7CDA-45A6-BF8B-3C57C812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6468797"/>
            <a:ext cx="3628864" cy="403271"/>
          </a:xfrm>
          <a:prstGeom prst="rect">
            <a:avLst/>
          </a:prstGeom>
        </p:spPr>
      </p:pic>
      <p:sp>
        <p:nvSpPr>
          <p:cNvPr id="22" name="SelectionSummary">
            <a:extLst>
              <a:ext uri="{FF2B5EF4-FFF2-40B4-BE49-F238E27FC236}">
                <a16:creationId xmlns:a16="http://schemas.microsoft.com/office/drawing/2014/main" id="{68B4E3CC-7268-4EF6-91D8-D82179829EDE}"/>
              </a:ext>
            </a:extLst>
          </p:cNvPr>
          <p:cNvSpPr txBox="1"/>
          <p:nvPr/>
        </p:nvSpPr>
        <p:spPr>
          <a:xfrm>
            <a:off x="0" y="469103"/>
            <a:ext cx="11929337" cy="2540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051" dirty="0"/>
              <a:t>Selection Summary : </a:t>
            </a:r>
            <a:r>
              <a:rPr lang="en-US" sz="105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Period :  2020        | Markets :      Mexico   | 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 : </a:t>
            </a:r>
            <a:endParaRPr lang="en-US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701AF-D65B-48D0-8FC4-B3B28F36D452}"/>
              </a:ext>
            </a:extLst>
          </p:cNvPr>
          <p:cNvGrpSpPr/>
          <p:nvPr/>
        </p:nvGrpSpPr>
        <p:grpSpPr>
          <a:xfrm>
            <a:off x="3564891" y="6513391"/>
            <a:ext cx="6292849" cy="338554"/>
            <a:chOff x="3625851" y="6513391"/>
            <a:chExt cx="6292849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DB9B8-0BD7-474A-9868-51BA4B569C85}"/>
                </a:ext>
              </a:extLst>
            </p:cNvPr>
            <p:cNvSpPr txBox="1"/>
            <p:nvPr/>
          </p:nvSpPr>
          <p:spPr>
            <a:xfrm>
              <a:off x="3625851" y="6513391"/>
              <a:ext cx="6292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Source: Project Landmark || Strategic Postures displayed are Business Driven || Target @ 90% CL based on Strategic Postures || LS: Insufficient sample(&lt; 150) || Low Sample    150-250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691B1FD-B30E-4284-9A1C-E2CB42150B37}"/>
                </a:ext>
              </a:extLst>
            </p:cNvPr>
            <p:cNvSpPr/>
            <p:nvPr/>
          </p:nvSpPr>
          <p:spPr>
            <a:xfrm>
              <a:off x="4953379" y="6723274"/>
              <a:ext cx="48044" cy="36381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11" name="TimePeriodHeaderTable">
            <a:extLst>
              <a:ext uri="{FF2B5EF4-FFF2-40B4-BE49-F238E27FC236}">
                <a16:creationId xmlns:a16="http://schemas.microsoft.com/office/drawing/2014/main" id="{82CC2619-5DD9-481E-80CC-31F898D9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593321"/>
              </p:ext>
            </p:extLst>
          </p:nvPr>
        </p:nvGraphicFramePr>
        <p:xfrm>
          <a:off x="4189841" y="847204"/>
          <a:ext cx="763930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55">
                  <a:extLst>
                    <a:ext uri="{9D8B030D-6E8A-4147-A177-3AD203B41FA5}">
                      <a16:colId xmlns:a16="http://schemas.microsoft.com/office/drawing/2014/main" val="2802719927"/>
                    </a:ext>
                  </a:extLst>
                </a:gridCol>
                <a:gridCol w="887895">
                  <a:extLst>
                    <a:ext uri="{9D8B030D-6E8A-4147-A177-3AD203B41FA5}">
                      <a16:colId xmlns:a16="http://schemas.microsoft.com/office/drawing/2014/main" val="2773042899"/>
                    </a:ext>
                  </a:extLst>
                </a:gridCol>
                <a:gridCol w="927652">
                  <a:extLst>
                    <a:ext uri="{9D8B030D-6E8A-4147-A177-3AD203B41FA5}">
                      <a16:colId xmlns:a16="http://schemas.microsoft.com/office/drawing/2014/main" val="3005496533"/>
                    </a:ext>
                  </a:extLst>
                </a:gridCol>
                <a:gridCol w="997599">
                  <a:extLst>
                    <a:ext uri="{9D8B030D-6E8A-4147-A177-3AD203B41FA5}">
                      <a16:colId xmlns:a16="http://schemas.microsoft.com/office/drawing/2014/main" val="1787577631"/>
                    </a:ext>
                  </a:extLst>
                </a:gridCol>
                <a:gridCol w="979671">
                  <a:extLst>
                    <a:ext uri="{9D8B030D-6E8A-4147-A177-3AD203B41FA5}">
                      <a16:colId xmlns:a16="http://schemas.microsoft.com/office/drawing/2014/main" val="1306154173"/>
                    </a:ext>
                  </a:extLst>
                </a:gridCol>
                <a:gridCol w="921706">
                  <a:extLst>
                    <a:ext uri="{9D8B030D-6E8A-4147-A177-3AD203B41FA5}">
                      <a16:colId xmlns:a16="http://schemas.microsoft.com/office/drawing/2014/main" val="1950824745"/>
                    </a:ext>
                  </a:extLst>
                </a:gridCol>
                <a:gridCol w="840829">
                  <a:extLst>
                    <a:ext uri="{9D8B030D-6E8A-4147-A177-3AD203B41FA5}">
                      <a16:colId xmlns:a16="http://schemas.microsoft.com/office/drawing/2014/main" val="702240230"/>
                    </a:ext>
                  </a:extLst>
                </a:gridCol>
                <a:gridCol w="813896">
                  <a:extLst>
                    <a:ext uri="{9D8B030D-6E8A-4147-A177-3AD203B41FA5}">
                      <a16:colId xmlns:a16="http://schemas.microsoft.com/office/drawing/2014/main" val="2856857987"/>
                    </a:ext>
                  </a:extLst>
                </a:gridCol>
              </a:tblGrid>
              <a:tr h="2540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Q3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2019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Q3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1082"/>
                  </a:ext>
                </a:extLst>
              </a:tr>
            </a:tbl>
          </a:graphicData>
        </a:graphic>
      </p:graphicFrame>
      <p:graphicFrame>
        <p:nvGraphicFramePr>
          <p:cNvPr id="14" name="DataTable">
            <a:extLst>
              <a:ext uri="{FF2B5EF4-FFF2-40B4-BE49-F238E27FC236}">
                <a16:creationId xmlns:a16="http://schemas.microsoft.com/office/drawing/2014/main" id="{F0DE734B-B0C3-4DFD-A3FD-28C1C2A7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16531"/>
              </p:ext>
            </p:extLst>
          </p:nvPr>
        </p:nvGraphicFramePr>
        <p:xfrm>
          <a:off x="169981" y="1362017"/>
          <a:ext cx="11725320" cy="4927710"/>
        </p:xfrm>
        <a:graphic>
          <a:graphicData uri="http://schemas.openxmlformats.org/drawingml/2006/table">
            <a:tbl>
              <a:tblPr/>
              <a:tblGrid>
                <a:gridCol w="38092">
                  <a:extLst>
                    <a:ext uri="{9D8B030D-6E8A-4147-A177-3AD203B41FA5}">
                      <a16:colId xmlns:a16="http://schemas.microsoft.com/office/drawing/2014/main" val="309470362"/>
                    </a:ext>
                  </a:extLst>
                </a:gridCol>
                <a:gridCol w="2106399">
                  <a:extLst>
                    <a:ext uri="{9D8B030D-6E8A-4147-A177-3AD203B41FA5}">
                      <a16:colId xmlns:a16="http://schemas.microsoft.com/office/drawing/2014/main" val="3760263842"/>
                    </a:ext>
                  </a:extLst>
                </a:gridCol>
                <a:gridCol w="1859963">
                  <a:extLst>
                    <a:ext uri="{9D8B030D-6E8A-4147-A177-3AD203B41FA5}">
                      <a16:colId xmlns:a16="http://schemas.microsoft.com/office/drawing/2014/main" val="1753206859"/>
                    </a:ext>
                  </a:extLst>
                </a:gridCol>
                <a:gridCol w="1096349">
                  <a:extLst>
                    <a:ext uri="{9D8B030D-6E8A-4147-A177-3AD203B41FA5}">
                      <a16:colId xmlns:a16="http://schemas.microsoft.com/office/drawing/2014/main" val="4241365871"/>
                    </a:ext>
                  </a:extLst>
                </a:gridCol>
                <a:gridCol w="1036628">
                  <a:extLst>
                    <a:ext uri="{9D8B030D-6E8A-4147-A177-3AD203B41FA5}">
                      <a16:colId xmlns:a16="http://schemas.microsoft.com/office/drawing/2014/main" val="4061532482"/>
                    </a:ext>
                  </a:extLst>
                </a:gridCol>
                <a:gridCol w="1029381">
                  <a:extLst>
                    <a:ext uri="{9D8B030D-6E8A-4147-A177-3AD203B41FA5}">
                      <a16:colId xmlns:a16="http://schemas.microsoft.com/office/drawing/2014/main" val="3358734463"/>
                    </a:ext>
                  </a:extLst>
                </a:gridCol>
                <a:gridCol w="881722">
                  <a:extLst>
                    <a:ext uri="{9D8B030D-6E8A-4147-A177-3AD203B41FA5}">
                      <a16:colId xmlns:a16="http://schemas.microsoft.com/office/drawing/2014/main" val="3402818338"/>
                    </a:ext>
                  </a:extLst>
                </a:gridCol>
                <a:gridCol w="987786">
                  <a:extLst>
                    <a:ext uri="{9D8B030D-6E8A-4147-A177-3AD203B41FA5}">
                      <a16:colId xmlns:a16="http://schemas.microsoft.com/office/drawing/2014/main" val="3745225745"/>
                    </a:ext>
                  </a:extLst>
                </a:gridCol>
                <a:gridCol w="858706">
                  <a:extLst>
                    <a:ext uri="{9D8B030D-6E8A-4147-A177-3AD203B41FA5}">
                      <a16:colId xmlns:a16="http://schemas.microsoft.com/office/drawing/2014/main" val="3399650800"/>
                    </a:ext>
                  </a:extLst>
                </a:gridCol>
                <a:gridCol w="955639">
                  <a:extLst>
                    <a:ext uri="{9D8B030D-6E8A-4147-A177-3AD203B41FA5}">
                      <a16:colId xmlns:a16="http://schemas.microsoft.com/office/drawing/2014/main" val="3988802618"/>
                    </a:ext>
                  </a:extLst>
                </a:gridCol>
                <a:gridCol w="874655">
                  <a:extLst>
                    <a:ext uri="{9D8B030D-6E8A-4147-A177-3AD203B41FA5}">
                      <a16:colId xmlns:a16="http://schemas.microsoft.com/office/drawing/2014/main" val="2351034513"/>
                    </a:ext>
                  </a:extLst>
                </a:gridCol>
              </a:tblGrid>
              <a:tr h="413040">
                <a:tc rowSpan="2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6657"/>
                  </a:ext>
                </a:extLst>
              </a:tr>
              <a:tr h="3009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 OCCASIONS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STRATEGIC POSTURES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815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815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742089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EARLY MORNING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01643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FOR ONE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872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FAMILY BREAKFAST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3325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@ WORK / SCHOOL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68191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MID MORNING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182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39142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3415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AFTERNOON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9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 WORK / SCHOOL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898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55134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6487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ME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612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WE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4411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BEDTIME / LATE NIGHT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8271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1371F599-C2DC-42A4-A46D-B52878B4C49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629224" y="3567555"/>
            <a:ext cx="5485868" cy="457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4668A9-BEC1-4EAA-B097-0FB09D4BC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476779" y="3601246"/>
            <a:ext cx="5471845" cy="457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B0C2BF-238E-4046-AC3A-26B4B40E100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94343" y="3822494"/>
            <a:ext cx="4863804" cy="45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A0689C-264A-43F9-9045-47B26B6A6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105591" y="4028187"/>
            <a:ext cx="4432757" cy="1183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B9FFD13-9860-44FD-82A8-7BAA93E45F3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606313" y="3552038"/>
            <a:ext cx="5485868" cy="4572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BFF519-82AE-43C7-BA41-1D7875CF950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543981" y="3545144"/>
            <a:ext cx="5485868" cy="4572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D9481EE-730B-4A7D-97BE-30640ECB7B8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439579" y="3567278"/>
            <a:ext cx="5485868" cy="4572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D8D53B5-0E9B-4626-B2C6-A20E42AE4A3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405255" y="3561110"/>
            <a:ext cx="5485868" cy="4572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342F3E-6C01-4A0C-BE05-115A2F59912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283417" y="3574898"/>
            <a:ext cx="5485868" cy="457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2EA9D6B-AC81-4C49-9219-076D4752F4B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204251" y="3574898"/>
            <a:ext cx="5485868" cy="45720"/>
          </a:xfrm>
          <a:prstGeom prst="rect">
            <a:avLst/>
          </a:prstGeom>
        </p:spPr>
      </p:pic>
      <p:sp>
        <p:nvSpPr>
          <p:cNvPr id="52" name="Title 4">
            <a:extLst>
              <a:ext uri="{FF2B5EF4-FFF2-40B4-BE49-F238E27FC236}">
                <a16:creationId xmlns:a16="http://schemas.microsoft.com/office/drawing/2014/main" id="{5563C033-5D99-4D7E-A7CC-3B2AD4D7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45" y="20123"/>
            <a:ext cx="11842590" cy="41195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DB1348"/>
                </a:solidFill>
                <a:latin typeface="Franklin Gothic Medium" panose="020B0603020102020204" pitchFamily="34" charset="0"/>
              </a:rPr>
              <a:t>KELLOGG’S SAMPLE SIZE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2481BBF-C234-42CF-86C4-6C1D54D5D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0645" y="773626"/>
            <a:ext cx="42676" cy="54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939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684174" y="6506437"/>
            <a:ext cx="444063" cy="275677"/>
          </a:xfrm>
        </p:spPr>
        <p:txBody>
          <a:bodyPr/>
          <a:lstStyle/>
          <a:p>
            <a:pPr defTabSz="685783">
              <a:defRPr/>
            </a:pPr>
            <a:fld id="{A26DCA39-FE7E-4B33-9419-C9BB65BD885E}" type="slidenum">
              <a:rPr lang="en-US" sz="1000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783">
                <a:defRPr/>
              </a:pPr>
              <a:t>10</a:t>
            </a:fld>
            <a:endParaRPr lang="en-US" sz="1000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04663-7CDA-45A6-BF8B-3C57C812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6468797"/>
            <a:ext cx="3628864" cy="403271"/>
          </a:xfrm>
          <a:prstGeom prst="rect">
            <a:avLst/>
          </a:prstGeom>
        </p:spPr>
      </p:pic>
      <p:sp>
        <p:nvSpPr>
          <p:cNvPr id="22" name="SelectionSummary">
            <a:extLst>
              <a:ext uri="{FF2B5EF4-FFF2-40B4-BE49-F238E27FC236}">
                <a16:creationId xmlns:a16="http://schemas.microsoft.com/office/drawing/2014/main" id="{68B4E3CC-7268-4EF6-91D8-D82179829EDE}"/>
              </a:ext>
            </a:extLst>
          </p:cNvPr>
          <p:cNvSpPr txBox="1"/>
          <p:nvPr/>
        </p:nvSpPr>
        <p:spPr>
          <a:xfrm>
            <a:off x="0" y="469103"/>
            <a:ext cx="11929337" cy="2540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051" dirty="0"/>
              <a:t>Selection Summary : </a:t>
            </a:r>
            <a:r>
              <a:rPr lang="en-US" sz="105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Period :  2020        | Markets :      Mexico   | 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 : </a:t>
            </a:r>
            <a:endParaRPr lang="en-US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701AF-D65B-48D0-8FC4-B3B28F36D452}"/>
              </a:ext>
            </a:extLst>
          </p:cNvPr>
          <p:cNvGrpSpPr/>
          <p:nvPr/>
        </p:nvGrpSpPr>
        <p:grpSpPr>
          <a:xfrm>
            <a:off x="3564891" y="6513391"/>
            <a:ext cx="6292849" cy="338554"/>
            <a:chOff x="3625851" y="6513391"/>
            <a:chExt cx="6292849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DB9B8-0BD7-474A-9868-51BA4B569C85}"/>
                </a:ext>
              </a:extLst>
            </p:cNvPr>
            <p:cNvSpPr txBox="1"/>
            <p:nvPr/>
          </p:nvSpPr>
          <p:spPr>
            <a:xfrm>
              <a:off x="3625851" y="6513391"/>
              <a:ext cx="6292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Source: Project Landmark || Strategic Postures displayed are Business Driven || Target @ 90% CL based on Strategic Postures || LS: Insufficient sample(&lt; 150) || Low Sample    150-250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691B1FD-B30E-4284-9A1C-E2CB42150B37}"/>
                </a:ext>
              </a:extLst>
            </p:cNvPr>
            <p:cNvSpPr/>
            <p:nvPr/>
          </p:nvSpPr>
          <p:spPr>
            <a:xfrm>
              <a:off x="4953379" y="6723274"/>
              <a:ext cx="48044" cy="36381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11" name="TimePeriodHeaderTable">
            <a:extLst>
              <a:ext uri="{FF2B5EF4-FFF2-40B4-BE49-F238E27FC236}">
                <a16:creationId xmlns:a16="http://schemas.microsoft.com/office/drawing/2014/main" id="{82CC2619-5DD9-481E-80CC-31F898D9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27682"/>
              </p:ext>
            </p:extLst>
          </p:nvPr>
        </p:nvGraphicFramePr>
        <p:xfrm>
          <a:off x="4189841" y="847204"/>
          <a:ext cx="763930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55">
                  <a:extLst>
                    <a:ext uri="{9D8B030D-6E8A-4147-A177-3AD203B41FA5}">
                      <a16:colId xmlns:a16="http://schemas.microsoft.com/office/drawing/2014/main" val="2802719927"/>
                    </a:ext>
                  </a:extLst>
                </a:gridCol>
                <a:gridCol w="887895">
                  <a:extLst>
                    <a:ext uri="{9D8B030D-6E8A-4147-A177-3AD203B41FA5}">
                      <a16:colId xmlns:a16="http://schemas.microsoft.com/office/drawing/2014/main" val="2773042899"/>
                    </a:ext>
                  </a:extLst>
                </a:gridCol>
                <a:gridCol w="927652">
                  <a:extLst>
                    <a:ext uri="{9D8B030D-6E8A-4147-A177-3AD203B41FA5}">
                      <a16:colId xmlns:a16="http://schemas.microsoft.com/office/drawing/2014/main" val="3005496533"/>
                    </a:ext>
                  </a:extLst>
                </a:gridCol>
                <a:gridCol w="997599">
                  <a:extLst>
                    <a:ext uri="{9D8B030D-6E8A-4147-A177-3AD203B41FA5}">
                      <a16:colId xmlns:a16="http://schemas.microsoft.com/office/drawing/2014/main" val="1787577631"/>
                    </a:ext>
                  </a:extLst>
                </a:gridCol>
                <a:gridCol w="979671">
                  <a:extLst>
                    <a:ext uri="{9D8B030D-6E8A-4147-A177-3AD203B41FA5}">
                      <a16:colId xmlns:a16="http://schemas.microsoft.com/office/drawing/2014/main" val="1306154173"/>
                    </a:ext>
                  </a:extLst>
                </a:gridCol>
                <a:gridCol w="921706">
                  <a:extLst>
                    <a:ext uri="{9D8B030D-6E8A-4147-A177-3AD203B41FA5}">
                      <a16:colId xmlns:a16="http://schemas.microsoft.com/office/drawing/2014/main" val="1950824745"/>
                    </a:ext>
                  </a:extLst>
                </a:gridCol>
                <a:gridCol w="840829">
                  <a:extLst>
                    <a:ext uri="{9D8B030D-6E8A-4147-A177-3AD203B41FA5}">
                      <a16:colId xmlns:a16="http://schemas.microsoft.com/office/drawing/2014/main" val="702240230"/>
                    </a:ext>
                  </a:extLst>
                </a:gridCol>
                <a:gridCol w="813896">
                  <a:extLst>
                    <a:ext uri="{9D8B030D-6E8A-4147-A177-3AD203B41FA5}">
                      <a16:colId xmlns:a16="http://schemas.microsoft.com/office/drawing/2014/main" val="2856857987"/>
                    </a:ext>
                  </a:extLst>
                </a:gridCol>
              </a:tblGrid>
              <a:tr h="2540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Q3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2019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Q3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1082"/>
                  </a:ext>
                </a:extLst>
              </a:tr>
            </a:tbl>
          </a:graphicData>
        </a:graphic>
      </p:graphicFrame>
      <p:graphicFrame>
        <p:nvGraphicFramePr>
          <p:cNvPr id="14" name="DataTable">
            <a:extLst>
              <a:ext uri="{FF2B5EF4-FFF2-40B4-BE49-F238E27FC236}">
                <a16:creationId xmlns:a16="http://schemas.microsoft.com/office/drawing/2014/main" id="{F0DE734B-B0C3-4DFD-A3FD-28C1C2A7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713514"/>
              </p:ext>
            </p:extLst>
          </p:nvPr>
        </p:nvGraphicFramePr>
        <p:xfrm>
          <a:off x="169981" y="1362017"/>
          <a:ext cx="11725320" cy="4927710"/>
        </p:xfrm>
        <a:graphic>
          <a:graphicData uri="http://schemas.openxmlformats.org/drawingml/2006/table">
            <a:tbl>
              <a:tblPr/>
              <a:tblGrid>
                <a:gridCol w="38092">
                  <a:extLst>
                    <a:ext uri="{9D8B030D-6E8A-4147-A177-3AD203B41FA5}">
                      <a16:colId xmlns:a16="http://schemas.microsoft.com/office/drawing/2014/main" val="309470362"/>
                    </a:ext>
                  </a:extLst>
                </a:gridCol>
                <a:gridCol w="2106399">
                  <a:extLst>
                    <a:ext uri="{9D8B030D-6E8A-4147-A177-3AD203B41FA5}">
                      <a16:colId xmlns:a16="http://schemas.microsoft.com/office/drawing/2014/main" val="3760263842"/>
                    </a:ext>
                  </a:extLst>
                </a:gridCol>
                <a:gridCol w="1859963">
                  <a:extLst>
                    <a:ext uri="{9D8B030D-6E8A-4147-A177-3AD203B41FA5}">
                      <a16:colId xmlns:a16="http://schemas.microsoft.com/office/drawing/2014/main" val="1753206859"/>
                    </a:ext>
                  </a:extLst>
                </a:gridCol>
                <a:gridCol w="1096349">
                  <a:extLst>
                    <a:ext uri="{9D8B030D-6E8A-4147-A177-3AD203B41FA5}">
                      <a16:colId xmlns:a16="http://schemas.microsoft.com/office/drawing/2014/main" val="4241365871"/>
                    </a:ext>
                  </a:extLst>
                </a:gridCol>
                <a:gridCol w="1036628">
                  <a:extLst>
                    <a:ext uri="{9D8B030D-6E8A-4147-A177-3AD203B41FA5}">
                      <a16:colId xmlns:a16="http://schemas.microsoft.com/office/drawing/2014/main" val="4061532482"/>
                    </a:ext>
                  </a:extLst>
                </a:gridCol>
                <a:gridCol w="1029381">
                  <a:extLst>
                    <a:ext uri="{9D8B030D-6E8A-4147-A177-3AD203B41FA5}">
                      <a16:colId xmlns:a16="http://schemas.microsoft.com/office/drawing/2014/main" val="3358734463"/>
                    </a:ext>
                  </a:extLst>
                </a:gridCol>
                <a:gridCol w="881722">
                  <a:extLst>
                    <a:ext uri="{9D8B030D-6E8A-4147-A177-3AD203B41FA5}">
                      <a16:colId xmlns:a16="http://schemas.microsoft.com/office/drawing/2014/main" val="3402818338"/>
                    </a:ext>
                  </a:extLst>
                </a:gridCol>
                <a:gridCol w="987786">
                  <a:extLst>
                    <a:ext uri="{9D8B030D-6E8A-4147-A177-3AD203B41FA5}">
                      <a16:colId xmlns:a16="http://schemas.microsoft.com/office/drawing/2014/main" val="3745225745"/>
                    </a:ext>
                  </a:extLst>
                </a:gridCol>
                <a:gridCol w="858706">
                  <a:extLst>
                    <a:ext uri="{9D8B030D-6E8A-4147-A177-3AD203B41FA5}">
                      <a16:colId xmlns:a16="http://schemas.microsoft.com/office/drawing/2014/main" val="3399650800"/>
                    </a:ext>
                  </a:extLst>
                </a:gridCol>
                <a:gridCol w="955639">
                  <a:extLst>
                    <a:ext uri="{9D8B030D-6E8A-4147-A177-3AD203B41FA5}">
                      <a16:colId xmlns:a16="http://schemas.microsoft.com/office/drawing/2014/main" val="3988802618"/>
                    </a:ext>
                  </a:extLst>
                </a:gridCol>
                <a:gridCol w="874655">
                  <a:extLst>
                    <a:ext uri="{9D8B030D-6E8A-4147-A177-3AD203B41FA5}">
                      <a16:colId xmlns:a16="http://schemas.microsoft.com/office/drawing/2014/main" val="2351034513"/>
                    </a:ext>
                  </a:extLst>
                </a:gridCol>
              </a:tblGrid>
              <a:tr h="413040">
                <a:tc rowSpan="2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6657"/>
                  </a:ext>
                </a:extLst>
              </a:tr>
              <a:tr h="3009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 OCCASIONS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STRATEGIC POSTURES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815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815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742089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EARLY MORNING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01643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FOR ONE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872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FAMILY BREAKFAST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3325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@ WORK / SCHOOL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68191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MID MORNING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182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39142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3415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AFTERNOON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9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 WORK / SCHOOL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898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55134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6487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ME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612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WE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4411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BEDTIME / LATE NIGHT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8271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1371F599-C2DC-42A4-A46D-B52878B4C49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629224" y="3567555"/>
            <a:ext cx="5485868" cy="457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4668A9-BEC1-4EAA-B097-0FB09D4BC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476779" y="3601246"/>
            <a:ext cx="5471845" cy="457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B0C2BF-238E-4046-AC3A-26B4B40E100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320851" y="3848998"/>
            <a:ext cx="4863804" cy="45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A0689C-264A-43F9-9045-47B26B6A6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105591" y="4028187"/>
            <a:ext cx="4432757" cy="1183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B9FFD13-9860-44FD-82A8-7BAA93E45F3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606313" y="3552038"/>
            <a:ext cx="5485868" cy="4572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BFF519-82AE-43C7-BA41-1D7875CF950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543981" y="3545144"/>
            <a:ext cx="5485868" cy="4572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D9481EE-730B-4A7D-97BE-30640ECB7B8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439579" y="3567278"/>
            <a:ext cx="5485868" cy="4572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D8D53B5-0E9B-4626-B2C6-A20E42AE4A3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405255" y="3561110"/>
            <a:ext cx="5485868" cy="4572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342F3E-6C01-4A0C-BE05-115A2F59912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283417" y="3574898"/>
            <a:ext cx="5485868" cy="457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2EA9D6B-AC81-4C49-9219-076D4752F4B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204251" y="3574898"/>
            <a:ext cx="5485868" cy="45720"/>
          </a:xfrm>
          <a:prstGeom prst="rect">
            <a:avLst/>
          </a:prstGeom>
        </p:spPr>
      </p:pic>
      <p:sp>
        <p:nvSpPr>
          <p:cNvPr id="52" name="Title 4">
            <a:extLst>
              <a:ext uri="{FF2B5EF4-FFF2-40B4-BE49-F238E27FC236}">
                <a16:creationId xmlns:a16="http://schemas.microsoft.com/office/drawing/2014/main" id="{5563C033-5D99-4D7E-A7CC-3B2AD4D7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45" y="20123"/>
            <a:ext cx="11842590" cy="41195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DB1348"/>
                </a:solidFill>
                <a:latin typeface="Franklin Gothic Medium" panose="020B0603020102020204" pitchFamily="34" charset="0"/>
              </a:rPr>
              <a:t>CATEGORY SAMPLE SIZE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2481BBF-C234-42CF-86C4-6C1D54D5D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0645" y="773626"/>
            <a:ext cx="42676" cy="54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92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783">
              <a:defRPr/>
            </a:pPr>
            <a:fld id="{A26DCA39-FE7E-4B33-9419-C9BB65BD885E}" type="slidenum">
              <a:rPr lang="en-US" sz="1000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783">
                <a:defRPr/>
              </a:pPr>
              <a:t>11</a:t>
            </a:fld>
            <a:endParaRPr lang="en-US" sz="1000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04663-7CDA-45A6-BF8B-3C57C812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6468797"/>
            <a:ext cx="3628864" cy="403271"/>
          </a:xfrm>
          <a:prstGeom prst="rect">
            <a:avLst/>
          </a:prstGeom>
        </p:spPr>
      </p:pic>
      <p:sp>
        <p:nvSpPr>
          <p:cNvPr id="22" name="SelectionSummary">
            <a:extLst>
              <a:ext uri="{FF2B5EF4-FFF2-40B4-BE49-F238E27FC236}">
                <a16:creationId xmlns:a16="http://schemas.microsoft.com/office/drawing/2014/main" id="{68B4E3CC-7268-4EF6-91D8-D82179829EDE}"/>
              </a:ext>
            </a:extLst>
          </p:cNvPr>
          <p:cNvSpPr txBox="1"/>
          <p:nvPr/>
        </p:nvSpPr>
        <p:spPr>
          <a:xfrm>
            <a:off x="0" y="469103"/>
            <a:ext cx="11929337" cy="2540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051" dirty="0"/>
              <a:t>Selection Summary : </a:t>
            </a:r>
            <a:r>
              <a:rPr lang="en-US" sz="105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Period :  2020 |Markets : Mexico |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 : </a:t>
            </a:r>
            <a:endParaRPr lang="en-US" sz="1100" dirty="0"/>
          </a:p>
        </p:txBody>
      </p:sp>
      <p:sp>
        <p:nvSpPr>
          <p:cNvPr id="33" name="Title 4">
            <a:extLst>
              <a:ext uri="{FF2B5EF4-FFF2-40B4-BE49-F238E27FC236}">
                <a16:creationId xmlns:a16="http://schemas.microsoft.com/office/drawing/2014/main" id="{F5891114-9CB8-466D-970D-C908FDA7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45" y="20123"/>
            <a:ext cx="11842590" cy="41195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DB1348"/>
                </a:solidFill>
                <a:latin typeface="Franklin Gothic Medium" panose="020B0603020102020204" pitchFamily="34" charset="0"/>
              </a:rPr>
              <a:t>Kellogg’s Share of Occasion Performance Dashboard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701AF-D65B-48D0-8FC4-B3B28F36D452}"/>
              </a:ext>
            </a:extLst>
          </p:cNvPr>
          <p:cNvGrpSpPr/>
          <p:nvPr/>
        </p:nvGrpSpPr>
        <p:grpSpPr>
          <a:xfrm>
            <a:off x="3564891" y="6513391"/>
            <a:ext cx="6292849" cy="338554"/>
            <a:chOff x="3625851" y="6513391"/>
            <a:chExt cx="6292849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DB9B8-0BD7-474A-9868-51BA4B569C85}"/>
                </a:ext>
              </a:extLst>
            </p:cNvPr>
            <p:cNvSpPr txBox="1"/>
            <p:nvPr/>
          </p:nvSpPr>
          <p:spPr>
            <a:xfrm>
              <a:off x="3625851" y="6513391"/>
              <a:ext cx="6292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Source: Project Landmark || Strategic Postures displayed are Business Driven || Target @ 90% CL based on Strategic Postures || LS: Insufficient sample(&lt; 150) || Low Sample    150 -250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691B1FD-B30E-4284-9A1C-E2CB42150B37}"/>
                </a:ext>
              </a:extLst>
            </p:cNvPr>
            <p:cNvSpPr/>
            <p:nvPr/>
          </p:nvSpPr>
          <p:spPr>
            <a:xfrm>
              <a:off x="4953379" y="6723274"/>
              <a:ext cx="48044" cy="36381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5009934-F95A-4C20-A1C1-71D34A6B4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714922"/>
              </p:ext>
            </p:extLst>
          </p:nvPr>
        </p:nvGraphicFramePr>
        <p:xfrm>
          <a:off x="5433093" y="846901"/>
          <a:ext cx="654668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524">
                  <a:extLst>
                    <a:ext uri="{9D8B030D-6E8A-4147-A177-3AD203B41FA5}">
                      <a16:colId xmlns:a16="http://schemas.microsoft.com/office/drawing/2014/main" val="983349565"/>
                    </a:ext>
                  </a:extLst>
                </a:gridCol>
                <a:gridCol w="1297524">
                  <a:extLst>
                    <a:ext uri="{9D8B030D-6E8A-4147-A177-3AD203B41FA5}">
                      <a16:colId xmlns:a16="http://schemas.microsoft.com/office/drawing/2014/main" val="4134036118"/>
                    </a:ext>
                  </a:extLst>
                </a:gridCol>
                <a:gridCol w="1392906">
                  <a:extLst>
                    <a:ext uri="{9D8B030D-6E8A-4147-A177-3AD203B41FA5}">
                      <a16:colId xmlns:a16="http://schemas.microsoft.com/office/drawing/2014/main" val="2068797701"/>
                    </a:ext>
                  </a:extLst>
                </a:gridCol>
                <a:gridCol w="1342017">
                  <a:extLst>
                    <a:ext uri="{9D8B030D-6E8A-4147-A177-3AD203B41FA5}">
                      <a16:colId xmlns:a16="http://schemas.microsoft.com/office/drawing/2014/main" val="470120981"/>
                    </a:ext>
                  </a:extLst>
                </a:gridCol>
                <a:gridCol w="1216714">
                  <a:extLst>
                    <a:ext uri="{9D8B030D-6E8A-4147-A177-3AD203B41FA5}">
                      <a16:colId xmlns:a16="http://schemas.microsoft.com/office/drawing/2014/main" val="1767098281"/>
                    </a:ext>
                  </a:extLst>
                </a:gridCol>
              </a:tblGrid>
              <a:tr h="179446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Significantly Better</a:t>
                      </a:r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Directionally Better</a:t>
                      </a:r>
                    </a:p>
                  </a:txBody>
                  <a:tcPr>
                    <a:lnL w="5715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Directionally Worse</a:t>
                      </a:r>
                    </a:p>
                  </a:txBody>
                  <a:tcPr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Significant Worse</a:t>
                      </a:r>
                    </a:p>
                  </a:txBody>
                  <a:tcPr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Flat</a:t>
                      </a:r>
                    </a:p>
                  </a:txBody>
                  <a:tcPr>
                    <a:lnL w="571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833857"/>
                  </a:ext>
                </a:extLst>
              </a:tr>
            </a:tbl>
          </a:graphicData>
        </a:graphic>
      </p:graphicFrame>
      <p:graphicFrame>
        <p:nvGraphicFramePr>
          <p:cNvPr id="11" name="TimePeriodHeaderTable">
            <a:extLst>
              <a:ext uri="{FF2B5EF4-FFF2-40B4-BE49-F238E27FC236}">
                <a16:creationId xmlns:a16="http://schemas.microsoft.com/office/drawing/2014/main" id="{82CC2619-5DD9-481E-80CC-31F898D9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00828"/>
              </p:ext>
            </p:extLst>
          </p:nvPr>
        </p:nvGraphicFramePr>
        <p:xfrm>
          <a:off x="3601333" y="1168856"/>
          <a:ext cx="8306293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541">
                  <a:extLst>
                    <a:ext uri="{9D8B030D-6E8A-4147-A177-3AD203B41FA5}">
                      <a16:colId xmlns:a16="http://schemas.microsoft.com/office/drawing/2014/main" val="1950824745"/>
                    </a:ext>
                  </a:extLst>
                </a:gridCol>
                <a:gridCol w="1406769">
                  <a:extLst>
                    <a:ext uri="{9D8B030D-6E8A-4147-A177-3AD203B41FA5}">
                      <a16:colId xmlns:a16="http://schemas.microsoft.com/office/drawing/2014/main" val="702240230"/>
                    </a:ext>
                  </a:extLst>
                </a:gridCol>
                <a:gridCol w="1491175">
                  <a:extLst>
                    <a:ext uri="{9D8B030D-6E8A-4147-A177-3AD203B41FA5}">
                      <a16:colId xmlns:a16="http://schemas.microsoft.com/office/drawing/2014/main" val="2856857987"/>
                    </a:ext>
                  </a:extLst>
                </a:gridCol>
                <a:gridCol w="1392702">
                  <a:extLst>
                    <a:ext uri="{9D8B030D-6E8A-4147-A177-3AD203B41FA5}">
                      <a16:colId xmlns:a16="http://schemas.microsoft.com/office/drawing/2014/main" val="1880352513"/>
                    </a:ext>
                  </a:extLst>
                </a:gridCol>
                <a:gridCol w="2032106">
                  <a:extLst>
                    <a:ext uri="{9D8B030D-6E8A-4147-A177-3AD203B41FA5}">
                      <a16:colId xmlns:a16="http://schemas.microsoft.com/office/drawing/2014/main" val="2531506060"/>
                    </a:ext>
                  </a:extLst>
                </a:gridCol>
              </a:tblGrid>
              <a:tr h="2540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K.SHARE OF OCCASION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Q3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Q4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1082"/>
                  </a:ext>
                </a:extLst>
              </a:tr>
            </a:tbl>
          </a:graphicData>
        </a:graphic>
      </p:graphicFrame>
      <p:graphicFrame>
        <p:nvGraphicFramePr>
          <p:cNvPr id="14" name="DataTable">
            <a:extLst>
              <a:ext uri="{FF2B5EF4-FFF2-40B4-BE49-F238E27FC236}">
                <a16:creationId xmlns:a16="http://schemas.microsoft.com/office/drawing/2014/main" id="{F0DE734B-B0C3-4DFD-A3FD-28C1C2A7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992462"/>
              </p:ext>
            </p:extLst>
          </p:nvPr>
        </p:nvGraphicFramePr>
        <p:xfrm>
          <a:off x="140677" y="1443172"/>
          <a:ext cx="11788661" cy="4927710"/>
        </p:xfrm>
        <a:graphic>
          <a:graphicData uri="http://schemas.openxmlformats.org/drawingml/2006/table">
            <a:tbl>
              <a:tblPr/>
              <a:tblGrid>
                <a:gridCol w="31065">
                  <a:extLst>
                    <a:ext uri="{9D8B030D-6E8A-4147-A177-3AD203B41FA5}">
                      <a16:colId xmlns:a16="http://schemas.microsoft.com/office/drawing/2014/main" val="309470362"/>
                    </a:ext>
                  </a:extLst>
                </a:gridCol>
                <a:gridCol w="1882141">
                  <a:extLst>
                    <a:ext uri="{9D8B030D-6E8A-4147-A177-3AD203B41FA5}">
                      <a16:colId xmlns:a16="http://schemas.microsoft.com/office/drawing/2014/main" val="3760263842"/>
                    </a:ext>
                  </a:extLst>
                </a:gridCol>
                <a:gridCol w="1519311">
                  <a:extLst>
                    <a:ext uri="{9D8B030D-6E8A-4147-A177-3AD203B41FA5}">
                      <a16:colId xmlns:a16="http://schemas.microsoft.com/office/drawing/2014/main" val="1753206859"/>
                    </a:ext>
                  </a:extLst>
                </a:gridCol>
                <a:gridCol w="892078">
                  <a:extLst>
                    <a:ext uri="{9D8B030D-6E8A-4147-A177-3AD203B41FA5}">
                      <a16:colId xmlns:a16="http://schemas.microsoft.com/office/drawing/2014/main" val="4241365871"/>
                    </a:ext>
                  </a:extLst>
                </a:gridCol>
                <a:gridCol w="1119602">
                  <a:extLst>
                    <a:ext uri="{9D8B030D-6E8A-4147-A177-3AD203B41FA5}">
                      <a16:colId xmlns:a16="http://schemas.microsoft.com/office/drawing/2014/main" val="4061532482"/>
                    </a:ext>
                  </a:extLst>
                </a:gridCol>
                <a:gridCol w="717452">
                  <a:extLst>
                    <a:ext uri="{9D8B030D-6E8A-4147-A177-3AD203B41FA5}">
                      <a16:colId xmlns:a16="http://schemas.microsoft.com/office/drawing/2014/main" val="3358734463"/>
                    </a:ext>
                  </a:extLst>
                </a:gridCol>
                <a:gridCol w="675249">
                  <a:extLst>
                    <a:ext uri="{9D8B030D-6E8A-4147-A177-3AD203B41FA5}">
                      <a16:colId xmlns:a16="http://schemas.microsoft.com/office/drawing/2014/main" val="3402818338"/>
                    </a:ext>
                  </a:extLst>
                </a:gridCol>
                <a:gridCol w="745588">
                  <a:extLst>
                    <a:ext uri="{9D8B030D-6E8A-4147-A177-3AD203B41FA5}">
                      <a16:colId xmlns:a16="http://schemas.microsoft.com/office/drawing/2014/main" val="582587247"/>
                    </a:ext>
                  </a:extLst>
                </a:gridCol>
                <a:gridCol w="809796">
                  <a:extLst>
                    <a:ext uri="{9D8B030D-6E8A-4147-A177-3AD203B41FA5}">
                      <a16:colId xmlns:a16="http://schemas.microsoft.com/office/drawing/2014/main" val="3745225745"/>
                    </a:ext>
                  </a:extLst>
                </a:gridCol>
                <a:gridCol w="639176">
                  <a:extLst>
                    <a:ext uri="{9D8B030D-6E8A-4147-A177-3AD203B41FA5}">
                      <a16:colId xmlns:a16="http://schemas.microsoft.com/office/drawing/2014/main" val="3399650800"/>
                    </a:ext>
                  </a:extLst>
                </a:gridCol>
                <a:gridCol w="717453">
                  <a:extLst>
                    <a:ext uri="{9D8B030D-6E8A-4147-A177-3AD203B41FA5}">
                      <a16:colId xmlns:a16="http://schemas.microsoft.com/office/drawing/2014/main" val="398880261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351034513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2133862534"/>
                    </a:ext>
                  </a:extLst>
                </a:gridCol>
                <a:gridCol w="675184">
                  <a:extLst>
                    <a:ext uri="{9D8B030D-6E8A-4147-A177-3AD203B41FA5}">
                      <a16:colId xmlns:a16="http://schemas.microsoft.com/office/drawing/2014/main" val="4090763138"/>
                    </a:ext>
                  </a:extLst>
                </a:gridCol>
              </a:tblGrid>
              <a:tr h="413040">
                <a:tc rowSpan="2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2019</a:t>
                      </a:r>
                    </a:p>
                    <a:p>
                      <a:pPr algn="ctr"/>
                      <a:r>
                        <a:rPr lang="en-US" sz="1000" dirty="0"/>
                        <a:t>Benchmark</a:t>
                      </a:r>
                      <a:endParaRPr lang="en-IN" sz="1000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2020</a:t>
                      </a:r>
                    </a:p>
                    <a:p>
                      <a:pPr algn="ctr"/>
                      <a:r>
                        <a:rPr lang="en-US" sz="1000" dirty="0"/>
                        <a:t>Target (pts change)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K. Share of </a:t>
                      </a:r>
                    </a:p>
                    <a:p>
                      <a:pPr algn="ctr"/>
                      <a:r>
                        <a:rPr lang="en-US" sz="1000" dirty="0"/>
                        <a:t> Occasion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vs 2019</a:t>
                      </a:r>
                    </a:p>
                    <a:p>
                      <a:pPr algn="ctr"/>
                      <a:r>
                        <a:rPr lang="en-US" sz="1000" dirty="0"/>
                        <a:t> Benchmark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K. Share of </a:t>
                      </a:r>
                    </a:p>
                    <a:p>
                      <a:pPr algn="ctr"/>
                      <a:r>
                        <a:rPr lang="en-US" sz="1000" dirty="0"/>
                        <a:t> Occasion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 vs 2019</a:t>
                      </a:r>
                    </a:p>
                    <a:p>
                      <a:pPr algn="ctr"/>
                      <a:r>
                        <a:rPr lang="en-US" sz="1000" dirty="0"/>
                        <a:t>  Benchmark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K. Share of </a:t>
                      </a:r>
                    </a:p>
                    <a:p>
                      <a:pPr algn="ctr"/>
                      <a:r>
                        <a:rPr lang="en-US" sz="1000" dirty="0"/>
                        <a:t> Occasion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vs 2019</a:t>
                      </a:r>
                    </a:p>
                    <a:p>
                      <a:pPr algn="ctr"/>
                      <a:r>
                        <a:rPr lang="en-US" sz="1000" dirty="0"/>
                        <a:t> Benchmark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K. Share of </a:t>
                      </a:r>
                    </a:p>
                    <a:p>
                      <a:pPr algn="ctr"/>
                      <a:r>
                        <a:rPr lang="en-US" sz="1000" dirty="0"/>
                        <a:t> Occasion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vs 2019</a:t>
                      </a:r>
                    </a:p>
                    <a:p>
                      <a:pPr algn="ctr"/>
                      <a:r>
                        <a:rPr lang="en-US" sz="1000" dirty="0"/>
                        <a:t> Benchmark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 vs 2020</a:t>
                      </a:r>
                    </a:p>
                    <a:p>
                      <a:pPr algn="ctr"/>
                      <a:r>
                        <a:rPr lang="en-US" sz="1000" dirty="0"/>
                        <a:t>  Benchmark</a:t>
                      </a:r>
                      <a:endParaRPr lang="en-IN" sz="10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6657"/>
                  </a:ext>
                </a:extLst>
              </a:tr>
              <a:tr h="3009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 OCCASIONS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STRATEGIC POSTURES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35.5%(4%)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-1.5%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742089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EARLY MORNING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29.8%(0%)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30.0%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01643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FOR ONE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36.4%(3%)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35.1%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1.6%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872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FAMILY BREAKFAST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33.2%(3%)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3325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@ WORK / SCHOOL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38.9%(9%)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30.0%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-8.9%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68191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MID MORNING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37.6%(6%)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-2.6%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182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40.5%(6%)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1.5%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-6.2%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39142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33.2%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39.2%(6%)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6.2%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35.7%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35.5%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35.3%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-3.9%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3415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AFTERNOON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24.8%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29.8%(5%)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25.2%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27.3%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30.5%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5.7%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30.7%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5.9%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9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 WORK / SCHOOL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898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55134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39.5%(0%)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38.9%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-0.5%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40.9%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1.4%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1.2%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1.0%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6487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ME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36.5%(0%)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40.2%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34.0%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-2.6%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35.5%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-1.1%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37.0%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612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WE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4411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BEDTIME / LATE NIGHT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37.5%(5%)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25.7%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-1.2%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8271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1371F599-C2DC-42A4-A46D-B52878B4C49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002360" y="3751824"/>
            <a:ext cx="5169519" cy="468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D6022C8-97F8-45CC-8EAA-37ED7D5975D5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95243" y="3751824"/>
            <a:ext cx="5169519" cy="468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D2ACC53-0008-44EA-A98B-A2F53D29082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946999" y="3765892"/>
            <a:ext cx="5169519" cy="468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ED2F1EA-C859-4859-86F1-7435BC92F24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308069" y="3779960"/>
            <a:ext cx="5169519" cy="468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A9EF9E3-951B-452A-8935-558E1A61402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390984" y="3737756"/>
            <a:ext cx="5169519" cy="468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4668A9-BEC1-4EAA-B097-0FB09D4BC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90325" y="3751824"/>
            <a:ext cx="5169519" cy="468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B0C2BF-238E-4046-AC3A-26B4B40E100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506379" y="3848998"/>
            <a:ext cx="4863804" cy="457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98B1AB7-C3DD-410D-8E78-CE9FCD72DE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877865" y="3906572"/>
            <a:ext cx="5169519" cy="4689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C2AFF8F-B680-4B76-A95A-ADE091BAFE3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3813823" y="3801649"/>
            <a:ext cx="4958503" cy="4571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E77D83A-C3C5-4EC0-A06D-5968C6F0C09D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5235475" y="3843853"/>
            <a:ext cx="4958503" cy="4571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CBBC73D-D8F1-4634-AC53-D054BF4926A0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6679702" y="3839996"/>
            <a:ext cx="4967999" cy="4571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2EC99D9-E6CF-49B2-B6E3-E4AD2E93144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8122772" y="3815717"/>
            <a:ext cx="4958503" cy="4571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E589D12-755B-41B6-8B6E-94BFFE29FC7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8754029" y="3815717"/>
            <a:ext cx="4958503" cy="45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A0689C-264A-43F9-9045-47B26B6A6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105591" y="4028187"/>
            <a:ext cx="4432757" cy="11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643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783">
              <a:defRPr/>
            </a:pPr>
            <a:fld id="{A26DCA39-FE7E-4B33-9419-C9BB65BD885E}" type="slidenum">
              <a:rPr lang="en-US" sz="1000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783">
                <a:defRPr/>
              </a:pPr>
              <a:t>12</a:t>
            </a:fld>
            <a:endParaRPr lang="en-US" sz="1000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04663-7CDA-45A6-BF8B-3C57C812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6468797"/>
            <a:ext cx="3628864" cy="403271"/>
          </a:xfrm>
          <a:prstGeom prst="rect">
            <a:avLst/>
          </a:prstGeom>
        </p:spPr>
      </p:pic>
      <p:sp>
        <p:nvSpPr>
          <p:cNvPr id="22" name="SelectionSummary">
            <a:extLst>
              <a:ext uri="{FF2B5EF4-FFF2-40B4-BE49-F238E27FC236}">
                <a16:creationId xmlns:a16="http://schemas.microsoft.com/office/drawing/2014/main" id="{68B4E3CC-7268-4EF6-91D8-D82179829EDE}"/>
              </a:ext>
            </a:extLst>
          </p:cNvPr>
          <p:cNvSpPr txBox="1"/>
          <p:nvPr/>
        </p:nvSpPr>
        <p:spPr>
          <a:xfrm>
            <a:off x="0" y="469103"/>
            <a:ext cx="11929337" cy="2540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051" dirty="0"/>
              <a:t>Selection Summary : </a:t>
            </a:r>
            <a:r>
              <a:rPr lang="en-US" sz="105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Period :  2020        | Markets :      Mexico   | 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 : </a:t>
            </a:r>
            <a:endParaRPr lang="en-US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701AF-D65B-48D0-8FC4-B3B28F36D452}"/>
              </a:ext>
            </a:extLst>
          </p:cNvPr>
          <p:cNvGrpSpPr/>
          <p:nvPr/>
        </p:nvGrpSpPr>
        <p:grpSpPr>
          <a:xfrm>
            <a:off x="3564891" y="6513391"/>
            <a:ext cx="6292849" cy="338554"/>
            <a:chOff x="3625851" y="6513391"/>
            <a:chExt cx="6292849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DB9B8-0BD7-474A-9868-51BA4B569C85}"/>
                </a:ext>
              </a:extLst>
            </p:cNvPr>
            <p:cNvSpPr txBox="1"/>
            <p:nvPr/>
          </p:nvSpPr>
          <p:spPr>
            <a:xfrm>
              <a:off x="3625851" y="6513391"/>
              <a:ext cx="6292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Source: Project Landmark || Strategic Postures displayed are Business Driven || Target @ 90% CL based on Strategic Postures || LS: Insufficient sample(&lt; 150) || Low Sample    150-250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691B1FD-B30E-4284-9A1C-E2CB42150B37}"/>
                </a:ext>
              </a:extLst>
            </p:cNvPr>
            <p:cNvSpPr/>
            <p:nvPr/>
          </p:nvSpPr>
          <p:spPr>
            <a:xfrm>
              <a:off x="4959729" y="6723274"/>
              <a:ext cx="48044" cy="36381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11" name="TimePeriodHeaderTable">
            <a:extLst>
              <a:ext uri="{FF2B5EF4-FFF2-40B4-BE49-F238E27FC236}">
                <a16:creationId xmlns:a16="http://schemas.microsoft.com/office/drawing/2014/main" id="{82CC2619-5DD9-481E-80CC-31F898D9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756180"/>
              </p:ext>
            </p:extLst>
          </p:nvPr>
        </p:nvGraphicFramePr>
        <p:xfrm>
          <a:off x="3575374" y="847735"/>
          <a:ext cx="831992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560">
                  <a:extLst>
                    <a:ext uri="{9D8B030D-6E8A-4147-A177-3AD203B41FA5}">
                      <a16:colId xmlns:a16="http://schemas.microsoft.com/office/drawing/2014/main" val="2802719927"/>
                    </a:ext>
                  </a:extLst>
                </a:gridCol>
                <a:gridCol w="905560">
                  <a:extLst>
                    <a:ext uri="{9D8B030D-6E8A-4147-A177-3AD203B41FA5}">
                      <a16:colId xmlns:a16="http://schemas.microsoft.com/office/drawing/2014/main" val="2773042899"/>
                    </a:ext>
                  </a:extLst>
                </a:gridCol>
                <a:gridCol w="905560">
                  <a:extLst>
                    <a:ext uri="{9D8B030D-6E8A-4147-A177-3AD203B41FA5}">
                      <a16:colId xmlns:a16="http://schemas.microsoft.com/office/drawing/2014/main" val="3005496533"/>
                    </a:ext>
                  </a:extLst>
                </a:gridCol>
                <a:gridCol w="905560">
                  <a:extLst>
                    <a:ext uri="{9D8B030D-6E8A-4147-A177-3AD203B41FA5}">
                      <a16:colId xmlns:a16="http://schemas.microsoft.com/office/drawing/2014/main" val="1787577631"/>
                    </a:ext>
                  </a:extLst>
                </a:gridCol>
                <a:gridCol w="764301">
                  <a:extLst>
                    <a:ext uri="{9D8B030D-6E8A-4147-A177-3AD203B41FA5}">
                      <a16:colId xmlns:a16="http://schemas.microsoft.com/office/drawing/2014/main" val="1306154173"/>
                    </a:ext>
                  </a:extLst>
                </a:gridCol>
                <a:gridCol w="907565">
                  <a:extLst>
                    <a:ext uri="{9D8B030D-6E8A-4147-A177-3AD203B41FA5}">
                      <a16:colId xmlns:a16="http://schemas.microsoft.com/office/drawing/2014/main" val="1950824745"/>
                    </a:ext>
                  </a:extLst>
                </a:gridCol>
                <a:gridCol w="743819">
                  <a:extLst>
                    <a:ext uri="{9D8B030D-6E8A-4147-A177-3AD203B41FA5}">
                      <a16:colId xmlns:a16="http://schemas.microsoft.com/office/drawing/2014/main" val="702240230"/>
                    </a:ext>
                  </a:extLst>
                </a:gridCol>
                <a:gridCol w="719993">
                  <a:extLst>
                    <a:ext uri="{9D8B030D-6E8A-4147-A177-3AD203B41FA5}">
                      <a16:colId xmlns:a16="http://schemas.microsoft.com/office/drawing/2014/main" val="2856857987"/>
                    </a:ext>
                  </a:extLst>
                </a:gridCol>
                <a:gridCol w="743165">
                  <a:extLst>
                    <a:ext uri="{9D8B030D-6E8A-4147-A177-3AD203B41FA5}">
                      <a16:colId xmlns:a16="http://schemas.microsoft.com/office/drawing/2014/main" val="1880352513"/>
                    </a:ext>
                  </a:extLst>
                </a:gridCol>
                <a:gridCol w="818842">
                  <a:extLst>
                    <a:ext uri="{9D8B030D-6E8A-4147-A177-3AD203B41FA5}">
                      <a16:colId xmlns:a16="http://schemas.microsoft.com/office/drawing/2014/main" val="2531506060"/>
                    </a:ext>
                  </a:extLst>
                </a:gridCol>
              </a:tblGrid>
              <a:tr h="2540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Q3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Q4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Q3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Q4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1082"/>
                  </a:ext>
                </a:extLst>
              </a:tr>
            </a:tbl>
          </a:graphicData>
        </a:graphic>
      </p:graphicFrame>
      <p:graphicFrame>
        <p:nvGraphicFramePr>
          <p:cNvPr id="14" name="DataTable">
            <a:extLst>
              <a:ext uri="{FF2B5EF4-FFF2-40B4-BE49-F238E27FC236}">
                <a16:creationId xmlns:a16="http://schemas.microsoft.com/office/drawing/2014/main" id="{F0DE734B-B0C3-4DFD-A3FD-28C1C2A7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896224"/>
              </p:ext>
            </p:extLst>
          </p:nvPr>
        </p:nvGraphicFramePr>
        <p:xfrm>
          <a:off x="169981" y="1362017"/>
          <a:ext cx="11771035" cy="4927710"/>
        </p:xfrm>
        <a:graphic>
          <a:graphicData uri="http://schemas.openxmlformats.org/drawingml/2006/table">
            <a:tbl>
              <a:tblPr/>
              <a:tblGrid>
                <a:gridCol w="32903">
                  <a:extLst>
                    <a:ext uri="{9D8B030D-6E8A-4147-A177-3AD203B41FA5}">
                      <a16:colId xmlns:a16="http://schemas.microsoft.com/office/drawing/2014/main" val="309470362"/>
                    </a:ext>
                  </a:extLst>
                </a:gridCol>
                <a:gridCol w="1819478">
                  <a:extLst>
                    <a:ext uri="{9D8B030D-6E8A-4147-A177-3AD203B41FA5}">
                      <a16:colId xmlns:a16="http://schemas.microsoft.com/office/drawing/2014/main" val="3760263842"/>
                    </a:ext>
                  </a:extLst>
                </a:gridCol>
                <a:gridCol w="1598869">
                  <a:extLst>
                    <a:ext uri="{9D8B030D-6E8A-4147-A177-3AD203B41FA5}">
                      <a16:colId xmlns:a16="http://schemas.microsoft.com/office/drawing/2014/main" val="1753206859"/>
                    </a:ext>
                  </a:extLst>
                </a:gridCol>
                <a:gridCol w="954752">
                  <a:extLst>
                    <a:ext uri="{9D8B030D-6E8A-4147-A177-3AD203B41FA5}">
                      <a16:colId xmlns:a16="http://schemas.microsoft.com/office/drawing/2014/main" val="4241365871"/>
                    </a:ext>
                  </a:extLst>
                </a:gridCol>
                <a:gridCol w="895425">
                  <a:extLst>
                    <a:ext uri="{9D8B030D-6E8A-4147-A177-3AD203B41FA5}">
                      <a16:colId xmlns:a16="http://schemas.microsoft.com/office/drawing/2014/main" val="4061532482"/>
                    </a:ext>
                  </a:extLst>
                </a:gridCol>
                <a:gridCol w="889165">
                  <a:extLst>
                    <a:ext uri="{9D8B030D-6E8A-4147-A177-3AD203B41FA5}">
                      <a16:colId xmlns:a16="http://schemas.microsoft.com/office/drawing/2014/main" val="3358734463"/>
                    </a:ext>
                  </a:extLst>
                </a:gridCol>
                <a:gridCol w="761619">
                  <a:extLst>
                    <a:ext uri="{9D8B030D-6E8A-4147-A177-3AD203B41FA5}">
                      <a16:colId xmlns:a16="http://schemas.microsoft.com/office/drawing/2014/main" val="3402818338"/>
                    </a:ext>
                  </a:extLst>
                </a:gridCol>
                <a:gridCol w="853605">
                  <a:extLst>
                    <a:ext uri="{9D8B030D-6E8A-4147-A177-3AD203B41FA5}">
                      <a16:colId xmlns:a16="http://schemas.microsoft.com/office/drawing/2014/main" val="582587247"/>
                    </a:ext>
                  </a:extLst>
                </a:gridCol>
                <a:gridCol w="853236">
                  <a:extLst>
                    <a:ext uri="{9D8B030D-6E8A-4147-A177-3AD203B41FA5}">
                      <a16:colId xmlns:a16="http://schemas.microsoft.com/office/drawing/2014/main" val="3745225745"/>
                    </a:ext>
                  </a:extLst>
                </a:gridCol>
                <a:gridCol w="741738">
                  <a:extLst>
                    <a:ext uri="{9D8B030D-6E8A-4147-A177-3AD203B41FA5}">
                      <a16:colId xmlns:a16="http://schemas.microsoft.com/office/drawing/2014/main" val="3399650800"/>
                    </a:ext>
                  </a:extLst>
                </a:gridCol>
                <a:gridCol w="825468">
                  <a:extLst>
                    <a:ext uri="{9D8B030D-6E8A-4147-A177-3AD203B41FA5}">
                      <a16:colId xmlns:a16="http://schemas.microsoft.com/office/drawing/2014/main" val="3988802618"/>
                    </a:ext>
                  </a:extLst>
                </a:gridCol>
                <a:gridCol w="755515">
                  <a:extLst>
                    <a:ext uri="{9D8B030D-6E8A-4147-A177-3AD203B41FA5}">
                      <a16:colId xmlns:a16="http://schemas.microsoft.com/office/drawing/2014/main" val="2351034513"/>
                    </a:ext>
                  </a:extLst>
                </a:gridCol>
                <a:gridCol w="789262">
                  <a:extLst>
                    <a:ext uri="{9D8B030D-6E8A-4147-A177-3AD203B41FA5}">
                      <a16:colId xmlns:a16="http://schemas.microsoft.com/office/drawing/2014/main" val="2133862534"/>
                    </a:ext>
                  </a:extLst>
                </a:gridCol>
              </a:tblGrid>
              <a:tr h="413040">
                <a:tc rowSpan="2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6657"/>
                  </a:ext>
                </a:extLst>
              </a:tr>
              <a:tr h="3009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 OCCASIONS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STRATEGIC POSTURES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815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815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742089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EARLY MORNING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01643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FOR ONE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872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FAMILY BREAKFAST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3325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@ WORK / SCHOOL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68191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MID MORNING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182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39142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3415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AFTERNOON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9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 WORK / SCHOOL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898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55134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6487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ME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612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WE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4411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BEDTIME / LATE NIGHT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8271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1371F599-C2DC-42A4-A46D-B52878B4C49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682232" y="3567555"/>
            <a:ext cx="5485868" cy="457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4668A9-BEC1-4EAA-B097-0FB09D4BC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67178" y="3601246"/>
            <a:ext cx="5471845" cy="457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B0C2BF-238E-4046-AC3A-26B4B40E100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506379" y="3848998"/>
            <a:ext cx="4863804" cy="457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98B1AB7-C3DD-410D-8E78-CE9FCD72DE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676368" y="3665749"/>
            <a:ext cx="5652336" cy="45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A0689C-264A-43F9-9045-47B26B6A6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105591" y="4028187"/>
            <a:ext cx="4432757" cy="1183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B9FFD13-9860-44FD-82A8-7BAA93E45F3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540053" y="3552038"/>
            <a:ext cx="5485868" cy="4572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BFF519-82AE-43C7-BA41-1D7875CF950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98209" y="3545144"/>
            <a:ext cx="5485868" cy="457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1EA4F09-3C20-4E58-95B6-52FF246E19F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087671" y="3494708"/>
            <a:ext cx="5485868" cy="4572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D9481EE-730B-4A7D-97BE-30640ECB7B8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850397" y="3567278"/>
            <a:ext cx="5485868" cy="4572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D8D53B5-0E9B-4626-B2C6-A20E42AE4A3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630541" y="3561110"/>
            <a:ext cx="5485868" cy="4572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342F3E-6C01-4A0C-BE05-115A2F59912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429189" y="3574898"/>
            <a:ext cx="5485868" cy="457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2EA9D6B-AC81-4C49-9219-076D4752F4B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204251" y="3574898"/>
            <a:ext cx="5485868" cy="45720"/>
          </a:xfrm>
          <a:prstGeom prst="rect">
            <a:avLst/>
          </a:prstGeom>
        </p:spPr>
      </p:pic>
      <p:sp>
        <p:nvSpPr>
          <p:cNvPr id="52" name="Title 4">
            <a:extLst>
              <a:ext uri="{FF2B5EF4-FFF2-40B4-BE49-F238E27FC236}">
                <a16:creationId xmlns:a16="http://schemas.microsoft.com/office/drawing/2014/main" id="{5563C033-5D99-4D7E-A7CC-3B2AD4D7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45" y="20123"/>
            <a:ext cx="11842590" cy="41195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DB1348"/>
                </a:solidFill>
                <a:latin typeface="Franklin Gothic Medium" panose="020B0603020102020204" pitchFamily="34" charset="0"/>
              </a:rPr>
              <a:t>KELLOGG’S SAMPLE SIZE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2481BBF-C234-42CF-86C4-6C1D54D5D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5602" y="773626"/>
            <a:ext cx="42676" cy="54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27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783">
              <a:defRPr/>
            </a:pPr>
            <a:fld id="{A26DCA39-FE7E-4B33-9419-C9BB65BD885E}" type="slidenum">
              <a:rPr lang="en-US" sz="1000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783">
                <a:defRPr/>
              </a:pPr>
              <a:t>13</a:t>
            </a:fld>
            <a:endParaRPr lang="en-US" sz="1000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04663-7CDA-45A6-BF8B-3C57C812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3" y="6468797"/>
            <a:ext cx="3628864" cy="403271"/>
          </a:xfrm>
          <a:prstGeom prst="rect">
            <a:avLst/>
          </a:prstGeom>
        </p:spPr>
      </p:pic>
      <p:sp>
        <p:nvSpPr>
          <p:cNvPr id="22" name="SelectionSummary">
            <a:extLst>
              <a:ext uri="{FF2B5EF4-FFF2-40B4-BE49-F238E27FC236}">
                <a16:creationId xmlns:a16="http://schemas.microsoft.com/office/drawing/2014/main" id="{68B4E3CC-7268-4EF6-91D8-D82179829EDE}"/>
              </a:ext>
            </a:extLst>
          </p:cNvPr>
          <p:cNvSpPr txBox="1"/>
          <p:nvPr/>
        </p:nvSpPr>
        <p:spPr>
          <a:xfrm>
            <a:off x="0" y="469103"/>
            <a:ext cx="11929337" cy="2540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051" dirty="0"/>
              <a:t>Selection Summary : </a:t>
            </a:r>
            <a:r>
              <a:rPr lang="en-US" sz="105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Period :  2020        | Markets :      Mexico   | 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 : </a:t>
            </a:r>
            <a:endParaRPr lang="en-US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701AF-D65B-48D0-8FC4-B3B28F36D452}"/>
              </a:ext>
            </a:extLst>
          </p:cNvPr>
          <p:cNvGrpSpPr/>
          <p:nvPr/>
        </p:nvGrpSpPr>
        <p:grpSpPr>
          <a:xfrm>
            <a:off x="3564891" y="6513391"/>
            <a:ext cx="6292849" cy="338554"/>
            <a:chOff x="3625851" y="6513391"/>
            <a:chExt cx="6292849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1DB9B8-0BD7-474A-9868-51BA4B569C85}"/>
                </a:ext>
              </a:extLst>
            </p:cNvPr>
            <p:cNvSpPr txBox="1"/>
            <p:nvPr/>
          </p:nvSpPr>
          <p:spPr>
            <a:xfrm>
              <a:off x="3625851" y="6513391"/>
              <a:ext cx="6292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Source: Project Landmark || Strategic Postures displayed are Business Driven || Target @ 90% CL based on Strategic Postures || LS: Insufficient sample(&lt; 150) || Low Sample    150-250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691B1FD-B30E-4284-9A1C-E2CB42150B37}"/>
                </a:ext>
              </a:extLst>
            </p:cNvPr>
            <p:cNvSpPr/>
            <p:nvPr/>
          </p:nvSpPr>
          <p:spPr>
            <a:xfrm>
              <a:off x="4959729" y="6723274"/>
              <a:ext cx="48044" cy="36381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11" name="TimePeriodHeaderTable">
            <a:extLst>
              <a:ext uri="{FF2B5EF4-FFF2-40B4-BE49-F238E27FC236}">
                <a16:creationId xmlns:a16="http://schemas.microsoft.com/office/drawing/2014/main" id="{82CC2619-5DD9-481E-80CC-31F898D91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84344"/>
              </p:ext>
            </p:extLst>
          </p:nvPr>
        </p:nvGraphicFramePr>
        <p:xfrm>
          <a:off x="3575374" y="847735"/>
          <a:ext cx="831992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560">
                  <a:extLst>
                    <a:ext uri="{9D8B030D-6E8A-4147-A177-3AD203B41FA5}">
                      <a16:colId xmlns:a16="http://schemas.microsoft.com/office/drawing/2014/main" val="2802719927"/>
                    </a:ext>
                  </a:extLst>
                </a:gridCol>
                <a:gridCol w="905560">
                  <a:extLst>
                    <a:ext uri="{9D8B030D-6E8A-4147-A177-3AD203B41FA5}">
                      <a16:colId xmlns:a16="http://schemas.microsoft.com/office/drawing/2014/main" val="2773042899"/>
                    </a:ext>
                  </a:extLst>
                </a:gridCol>
                <a:gridCol w="905560">
                  <a:extLst>
                    <a:ext uri="{9D8B030D-6E8A-4147-A177-3AD203B41FA5}">
                      <a16:colId xmlns:a16="http://schemas.microsoft.com/office/drawing/2014/main" val="3005496533"/>
                    </a:ext>
                  </a:extLst>
                </a:gridCol>
                <a:gridCol w="905560">
                  <a:extLst>
                    <a:ext uri="{9D8B030D-6E8A-4147-A177-3AD203B41FA5}">
                      <a16:colId xmlns:a16="http://schemas.microsoft.com/office/drawing/2014/main" val="1787577631"/>
                    </a:ext>
                  </a:extLst>
                </a:gridCol>
                <a:gridCol w="764301">
                  <a:extLst>
                    <a:ext uri="{9D8B030D-6E8A-4147-A177-3AD203B41FA5}">
                      <a16:colId xmlns:a16="http://schemas.microsoft.com/office/drawing/2014/main" val="1306154173"/>
                    </a:ext>
                  </a:extLst>
                </a:gridCol>
                <a:gridCol w="907565">
                  <a:extLst>
                    <a:ext uri="{9D8B030D-6E8A-4147-A177-3AD203B41FA5}">
                      <a16:colId xmlns:a16="http://schemas.microsoft.com/office/drawing/2014/main" val="1950824745"/>
                    </a:ext>
                  </a:extLst>
                </a:gridCol>
                <a:gridCol w="743819">
                  <a:extLst>
                    <a:ext uri="{9D8B030D-6E8A-4147-A177-3AD203B41FA5}">
                      <a16:colId xmlns:a16="http://schemas.microsoft.com/office/drawing/2014/main" val="702240230"/>
                    </a:ext>
                  </a:extLst>
                </a:gridCol>
                <a:gridCol w="719993">
                  <a:extLst>
                    <a:ext uri="{9D8B030D-6E8A-4147-A177-3AD203B41FA5}">
                      <a16:colId xmlns:a16="http://schemas.microsoft.com/office/drawing/2014/main" val="2856857987"/>
                    </a:ext>
                  </a:extLst>
                </a:gridCol>
                <a:gridCol w="743165">
                  <a:extLst>
                    <a:ext uri="{9D8B030D-6E8A-4147-A177-3AD203B41FA5}">
                      <a16:colId xmlns:a16="http://schemas.microsoft.com/office/drawing/2014/main" val="1880352513"/>
                    </a:ext>
                  </a:extLst>
                </a:gridCol>
                <a:gridCol w="818842">
                  <a:extLst>
                    <a:ext uri="{9D8B030D-6E8A-4147-A177-3AD203B41FA5}">
                      <a16:colId xmlns:a16="http://schemas.microsoft.com/office/drawing/2014/main" val="2531506060"/>
                    </a:ext>
                  </a:extLst>
                </a:gridCol>
              </a:tblGrid>
              <a:tr h="2540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Q3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Q4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Q3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YTD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Q4 2020</a:t>
                      </a:r>
                      <a:endParaRPr lang="en-IN" sz="1200" dirty="0"/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1082"/>
                  </a:ext>
                </a:extLst>
              </a:tr>
            </a:tbl>
          </a:graphicData>
        </a:graphic>
      </p:graphicFrame>
      <p:graphicFrame>
        <p:nvGraphicFramePr>
          <p:cNvPr id="14" name="DataTable">
            <a:extLst>
              <a:ext uri="{FF2B5EF4-FFF2-40B4-BE49-F238E27FC236}">
                <a16:creationId xmlns:a16="http://schemas.microsoft.com/office/drawing/2014/main" id="{F0DE734B-B0C3-4DFD-A3FD-28C1C2A7D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935191"/>
              </p:ext>
            </p:extLst>
          </p:nvPr>
        </p:nvGraphicFramePr>
        <p:xfrm>
          <a:off x="169981" y="1362017"/>
          <a:ext cx="11771035" cy="4927710"/>
        </p:xfrm>
        <a:graphic>
          <a:graphicData uri="http://schemas.openxmlformats.org/drawingml/2006/table">
            <a:tbl>
              <a:tblPr/>
              <a:tblGrid>
                <a:gridCol w="32903">
                  <a:extLst>
                    <a:ext uri="{9D8B030D-6E8A-4147-A177-3AD203B41FA5}">
                      <a16:colId xmlns:a16="http://schemas.microsoft.com/office/drawing/2014/main" val="309470362"/>
                    </a:ext>
                  </a:extLst>
                </a:gridCol>
                <a:gridCol w="1819478">
                  <a:extLst>
                    <a:ext uri="{9D8B030D-6E8A-4147-A177-3AD203B41FA5}">
                      <a16:colId xmlns:a16="http://schemas.microsoft.com/office/drawing/2014/main" val="3760263842"/>
                    </a:ext>
                  </a:extLst>
                </a:gridCol>
                <a:gridCol w="1598869">
                  <a:extLst>
                    <a:ext uri="{9D8B030D-6E8A-4147-A177-3AD203B41FA5}">
                      <a16:colId xmlns:a16="http://schemas.microsoft.com/office/drawing/2014/main" val="1753206859"/>
                    </a:ext>
                  </a:extLst>
                </a:gridCol>
                <a:gridCol w="954752">
                  <a:extLst>
                    <a:ext uri="{9D8B030D-6E8A-4147-A177-3AD203B41FA5}">
                      <a16:colId xmlns:a16="http://schemas.microsoft.com/office/drawing/2014/main" val="4241365871"/>
                    </a:ext>
                  </a:extLst>
                </a:gridCol>
                <a:gridCol w="895425">
                  <a:extLst>
                    <a:ext uri="{9D8B030D-6E8A-4147-A177-3AD203B41FA5}">
                      <a16:colId xmlns:a16="http://schemas.microsoft.com/office/drawing/2014/main" val="4061532482"/>
                    </a:ext>
                  </a:extLst>
                </a:gridCol>
                <a:gridCol w="889165">
                  <a:extLst>
                    <a:ext uri="{9D8B030D-6E8A-4147-A177-3AD203B41FA5}">
                      <a16:colId xmlns:a16="http://schemas.microsoft.com/office/drawing/2014/main" val="3358734463"/>
                    </a:ext>
                  </a:extLst>
                </a:gridCol>
                <a:gridCol w="761619">
                  <a:extLst>
                    <a:ext uri="{9D8B030D-6E8A-4147-A177-3AD203B41FA5}">
                      <a16:colId xmlns:a16="http://schemas.microsoft.com/office/drawing/2014/main" val="3402818338"/>
                    </a:ext>
                  </a:extLst>
                </a:gridCol>
                <a:gridCol w="853605">
                  <a:extLst>
                    <a:ext uri="{9D8B030D-6E8A-4147-A177-3AD203B41FA5}">
                      <a16:colId xmlns:a16="http://schemas.microsoft.com/office/drawing/2014/main" val="582587247"/>
                    </a:ext>
                  </a:extLst>
                </a:gridCol>
                <a:gridCol w="853236">
                  <a:extLst>
                    <a:ext uri="{9D8B030D-6E8A-4147-A177-3AD203B41FA5}">
                      <a16:colId xmlns:a16="http://schemas.microsoft.com/office/drawing/2014/main" val="3745225745"/>
                    </a:ext>
                  </a:extLst>
                </a:gridCol>
                <a:gridCol w="741738">
                  <a:extLst>
                    <a:ext uri="{9D8B030D-6E8A-4147-A177-3AD203B41FA5}">
                      <a16:colId xmlns:a16="http://schemas.microsoft.com/office/drawing/2014/main" val="3399650800"/>
                    </a:ext>
                  </a:extLst>
                </a:gridCol>
                <a:gridCol w="825468">
                  <a:extLst>
                    <a:ext uri="{9D8B030D-6E8A-4147-A177-3AD203B41FA5}">
                      <a16:colId xmlns:a16="http://schemas.microsoft.com/office/drawing/2014/main" val="3988802618"/>
                    </a:ext>
                  </a:extLst>
                </a:gridCol>
                <a:gridCol w="755515">
                  <a:extLst>
                    <a:ext uri="{9D8B030D-6E8A-4147-A177-3AD203B41FA5}">
                      <a16:colId xmlns:a16="http://schemas.microsoft.com/office/drawing/2014/main" val="2351034513"/>
                    </a:ext>
                  </a:extLst>
                </a:gridCol>
                <a:gridCol w="789262">
                  <a:extLst>
                    <a:ext uri="{9D8B030D-6E8A-4147-A177-3AD203B41FA5}">
                      <a16:colId xmlns:a16="http://schemas.microsoft.com/office/drawing/2014/main" val="2133862534"/>
                    </a:ext>
                  </a:extLst>
                </a:gridCol>
              </a:tblGrid>
              <a:tr h="413040">
                <a:tc rowSpan="2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Weighted</a:t>
                      </a:r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</a:t>
                      </a:r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Unweighted</a:t>
                      </a:r>
                      <a:endParaRPr lang="en-US" sz="1100" dirty="0"/>
                    </a:p>
                  </a:txBody>
                  <a:tcPr marL="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06657"/>
                  </a:ext>
                </a:extLst>
              </a:tr>
              <a:tr h="3009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 OCCASIONS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STRATEGIC POSTURES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815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5188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815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742089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EARLY MORNING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01643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FOR ONE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872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FAMILY BREAKFAST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3325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BREAKFAST @ WORK / SCHOOL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Take Share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768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68191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MID MORNING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182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39142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LUNCH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123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3415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AFTERNOON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Grow Relevance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95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AFTER WORK / SCHOOL BITE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98980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55134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DINNER ALTERNATIVE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76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64875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ME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Maintain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243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14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45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92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6128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EVENING WE 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Deprioritize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562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B7B7B7"/>
                          </a:solidFill>
                          <a:effectLst/>
                          <a:latin typeface="Franklin Gothic Book" panose="020B0503020102020204" pitchFamily="34" charset="0"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B7B7B7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44116"/>
                  </a:ext>
                </a:extLst>
              </a:tr>
              <a:tr h="300978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219" marT="5219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BEDTIME / LATE NIGHT SNACK</a:t>
                      </a:r>
                    </a:p>
                  </a:txBody>
                  <a:tcPr marL="36000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Strengthen Core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234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37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34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83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78271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1371F599-C2DC-42A4-A46D-B52878B4C49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682232" y="3567555"/>
            <a:ext cx="5485868" cy="457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4668A9-BEC1-4EAA-B097-0FB09D4BC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67178" y="3601246"/>
            <a:ext cx="5471845" cy="457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B0C2BF-238E-4046-AC3A-26B4B40E100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506379" y="3848998"/>
            <a:ext cx="4863804" cy="457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98B1AB7-C3DD-410D-8E78-CE9FCD72DE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676368" y="3665749"/>
            <a:ext cx="5652336" cy="45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A0689C-264A-43F9-9045-47B26B6A63A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-2105591" y="4028187"/>
            <a:ext cx="4432757" cy="1183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B9FFD13-9860-44FD-82A8-7BAA93E45F3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540053" y="3552038"/>
            <a:ext cx="5485868" cy="4572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3A9449F-FBC8-4F15-A263-06170F22155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222484" y="3537519"/>
            <a:ext cx="5485868" cy="4572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BFF519-82AE-43C7-BA41-1D7875CF950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98209" y="3545144"/>
            <a:ext cx="5485868" cy="457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1EA4F09-3C20-4E58-95B6-52FF246E19F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087671" y="3494708"/>
            <a:ext cx="5485868" cy="4572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D9481EE-730B-4A7D-97BE-30640ECB7B8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850397" y="3567278"/>
            <a:ext cx="5485868" cy="4572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D8D53B5-0E9B-4626-B2C6-A20E42AE4A3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630541" y="3561110"/>
            <a:ext cx="5485868" cy="4572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342F3E-6C01-4A0C-BE05-115A2F59912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429189" y="3574898"/>
            <a:ext cx="5485868" cy="457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2EA9D6B-AC81-4C49-9219-076D4752F4B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9204251" y="3574898"/>
            <a:ext cx="5485868" cy="45720"/>
          </a:xfrm>
          <a:prstGeom prst="rect">
            <a:avLst/>
          </a:prstGeom>
        </p:spPr>
      </p:pic>
      <p:sp>
        <p:nvSpPr>
          <p:cNvPr id="52" name="Title 4">
            <a:extLst>
              <a:ext uri="{FF2B5EF4-FFF2-40B4-BE49-F238E27FC236}">
                <a16:creationId xmlns:a16="http://schemas.microsoft.com/office/drawing/2014/main" id="{5563C033-5D99-4D7E-A7CC-3B2AD4D7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45" y="20123"/>
            <a:ext cx="11842590" cy="41195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DB1348"/>
                </a:solidFill>
                <a:latin typeface="Franklin Gothic Medium" panose="020B0603020102020204" pitchFamily="34" charset="0"/>
              </a:rPr>
              <a:t>CATEGORY SAMPLE SIZE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C761B4C-8CC5-4075-A256-B34BB7EE2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5602" y="773626"/>
            <a:ext cx="42676" cy="54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036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32">
      <a:dk1>
        <a:sysClr val="windowText" lastClr="000000"/>
      </a:dk1>
      <a:lt1>
        <a:sysClr val="window" lastClr="FFFFFF"/>
      </a:lt1>
      <a:dk2>
        <a:srgbClr val="DB1348"/>
      </a:dk2>
      <a:lt2>
        <a:srgbClr val="E7E6E6"/>
      </a:lt2>
      <a:accent1>
        <a:srgbClr val="DB1348"/>
      </a:accent1>
      <a:accent2>
        <a:srgbClr val="B68F68"/>
      </a:accent2>
      <a:accent3>
        <a:srgbClr val="003960"/>
      </a:accent3>
      <a:accent4>
        <a:srgbClr val="43BDA0"/>
      </a:accent4>
      <a:accent5>
        <a:srgbClr val="F9B9CA"/>
      </a:accent5>
      <a:accent6>
        <a:srgbClr val="61BBFF"/>
      </a:accent6>
      <a:hlink>
        <a:srgbClr val="0563C1"/>
      </a:hlink>
      <a:folHlink>
        <a:srgbClr val="954F72"/>
      </a:folHlink>
    </a:clrScheme>
    <a:fontScheme name="Custom 3">
      <a:majorFont>
        <a:latin typeface="Franklin Gothic Medium C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10041</TotalTime>
  <Words>3715</Words>
  <Application>Microsoft Office PowerPoint</Application>
  <PresentationFormat>Widescreen</PresentationFormat>
  <Paragraphs>1968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Franklin Gothic Book</vt:lpstr>
      <vt:lpstr>Franklin Gothic Medium</vt:lpstr>
      <vt:lpstr>Franklin Gothic Medium Cond</vt:lpstr>
      <vt:lpstr>Office Theme</vt:lpstr>
      <vt:lpstr>1_Office Theme</vt:lpstr>
      <vt:lpstr>LANDMARK OCCASION VISUALIZER</vt:lpstr>
      <vt:lpstr>Kellogg’s Share of Occasion Performance Dashboard</vt:lpstr>
      <vt:lpstr>KELLOGG’S SAMPLE SIZE</vt:lpstr>
      <vt:lpstr>CATEGORY SAMPLE SIZE</vt:lpstr>
      <vt:lpstr>Kellogg’s Share of Occasion Performance Dashboard</vt:lpstr>
      <vt:lpstr>KELLOGG’S SAMPLE SIZE</vt:lpstr>
      <vt:lpstr>CATEGORY SAMPLE SIZE</vt:lpstr>
      <vt:lpstr>Kellogg’s Share of Occasion Performance Dashboard</vt:lpstr>
      <vt:lpstr>KELLOGG’S SAMPLE SIZE</vt:lpstr>
      <vt:lpstr>CATEGORY SAMPLE SIZE</vt:lpstr>
      <vt:lpstr>Kellogg’s Share of Occasion Performance Dashboard</vt:lpstr>
      <vt:lpstr>KELLOGG’S SAMPLE SIZE</vt:lpstr>
      <vt:lpstr>CATEGORY SAMPLE SIZE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Shwetank S Srivastava</dc:creator>
  <cp:lastModifiedBy>Jain, Varsha (ANBAN)</cp:lastModifiedBy>
  <cp:revision>171</cp:revision>
  <dcterms:created xsi:type="dcterms:W3CDTF">2019-07-16T05:58:21Z</dcterms:created>
  <dcterms:modified xsi:type="dcterms:W3CDTF">2020-08-28T06:44:16Z</dcterms:modified>
</cp:coreProperties>
</file>